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6DB92-823F-4E5A-B6D9-0702EC0531C1}" v="15" dt="2026-04-08T17:37:48.2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72" autoAdjust="0"/>
    <p:restoredTop sz="94667"/>
  </p:normalViewPr>
  <p:slideViewPr>
    <p:cSldViewPr showGuides="1">
      <p:cViewPr>
        <p:scale>
          <a:sx n="22" d="100"/>
          <a:sy n="22" d="100"/>
        </p:scale>
        <p:origin x="1744" y="680"/>
      </p:cViewPr>
      <p:guideLst>
        <p:guide orient="horz" pos="10368"/>
        <p:guide pos="13824"/>
      </p:guideLst>
    </p:cSldViewPr>
  </p:slideViewPr>
  <p:notesTextViewPr>
    <p:cViewPr>
      <p:scale>
        <a:sx n="1" d="1"/>
        <a:sy n="1" d="1"/>
      </p:scale>
      <p:origin x="0" y="0"/>
    </p:cViewPr>
  </p:notesTextViewPr>
  <p:gridSpacing cx="457200" cy="457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15200" y="457200"/>
            <a:ext cx="29260800" cy="4572000"/>
          </a:xfrm>
        </p:spPr>
        <p:txBody>
          <a:bodyPr/>
          <a:lstStyle/>
          <a:p>
            <a:r>
              <a:rPr lang="en-US" dirty="0"/>
              <a:t>Click to edit Master title style</a:t>
            </a:r>
          </a:p>
        </p:txBody>
      </p:sp>
      <p:sp>
        <p:nvSpPr>
          <p:cNvPr id="5" name="Text Placeholder 2">
            <a:extLst>
              <a:ext uri="{FF2B5EF4-FFF2-40B4-BE49-F238E27FC236}">
                <a16:creationId xmlns:a16="http://schemas.microsoft.com/office/drawing/2014/main" id="{ED10C70C-3DCD-980F-21A1-22F0EE077C25}"/>
              </a:ext>
            </a:extLst>
          </p:cNvPr>
          <p:cNvSpPr>
            <a:spLocks noGrp="1"/>
          </p:cNvSpPr>
          <p:nvPr>
            <p:ph type="body" idx="1" hasCustomPrompt="1"/>
          </p:nvPr>
        </p:nvSpPr>
        <p:spPr>
          <a:xfrm>
            <a:off x="914400" y="8229600"/>
            <a:ext cx="13258800" cy="914400"/>
          </a:xfrm>
        </p:spPr>
        <p:txBody>
          <a:bodyPr anchor="ctr"/>
          <a:lstStyle>
            <a:lvl1pPr marL="0" indent="0">
              <a:buNone/>
              <a:defRPr sz="4400" b="1">
                <a:solidFill>
                  <a:schemeClr val="tx2"/>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BACKGROUND/INTRODUCTION</a:t>
            </a:r>
          </a:p>
        </p:txBody>
      </p:sp>
      <p:sp>
        <p:nvSpPr>
          <p:cNvPr id="6" name="Content Placeholder 3">
            <a:extLst>
              <a:ext uri="{FF2B5EF4-FFF2-40B4-BE49-F238E27FC236}">
                <a16:creationId xmlns:a16="http://schemas.microsoft.com/office/drawing/2014/main" id="{27F71786-CDC7-2ABF-66FC-7995038836E7}"/>
              </a:ext>
            </a:extLst>
          </p:cNvPr>
          <p:cNvSpPr>
            <a:spLocks noGrp="1"/>
          </p:cNvSpPr>
          <p:nvPr>
            <p:ph sz="half" idx="2" hasCustomPrompt="1"/>
          </p:nvPr>
        </p:nvSpPr>
        <p:spPr>
          <a:xfrm>
            <a:off x="914400" y="9144000"/>
            <a:ext cx="13258800" cy="9601200"/>
          </a:xfrm>
        </p:spPr>
        <p:txBody>
          <a:bodyPr/>
          <a:lstStyle/>
          <a:p>
            <a:pPr lvl="0"/>
            <a:r>
              <a:rPr lang="en-US" dirty="0"/>
              <a:t>It is important for your readers to know what your research is about and why it's important. State this as clearly as possible.</a:t>
            </a:r>
          </a:p>
          <a:p>
            <a:pPr lvl="0"/>
            <a:r>
              <a:rPr lang="en-US" dirty="0"/>
              <a:t>Posters are a popular method of presenting research findings in a concise and visually pleasing manner. Start by introducing the subject of your research and your hypothesis. What are the questions about this topic that you want to answer? What new things can it contribute to existing literature?</a:t>
            </a:r>
          </a:p>
        </p:txBody>
      </p:sp>
      <p:sp>
        <p:nvSpPr>
          <p:cNvPr id="7" name="Text Placeholder 2">
            <a:extLst>
              <a:ext uri="{FF2B5EF4-FFF2-40B4-BE49-F238E27FC236}">
                <a16:creationId xmlns:a16="http://schemas.microsoft.com/office/drawing/2014/main" id="{74F914E1-A179-1C0E-E328-2842B1AE4C8D}"/>
              </a:ext>
            </a:extLst>
          </p:cNvPr>
          <p:cNvSpPr>
            <a:spLocks noGrp="1"/>
          </p:cNvSpPr>
          <p:nvPr>
            <p:ph type="body" idx="10" hasCustomPrompt="1"/>
          </p:nvPr>
        </p:nvSpPr>
        <p:spPr>
          <a:xfrm>
            <a:off x="15316200" y="82296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METHODS</a:t>
            </a:r>
          </a:p>
        </p:txBody>
      </p:sp>
      <p:sp>
        <p:nvSpPr>
          <p:cNvPr id="8" name="Content Placeholder 3">
            <a:extLst>
              <a:ext uri="{FF2B5EF4-FFF2-40B4-BE49-F238E27FC236}">
                <a16:creationId xmlns:a16="http://schemas.microsoft.com/office/drawing/2014/main" id="{A7AB6D85-7896-33C2-AF77-3961A3042B35}"/>
              </a:ext>
            </a:extLst>
          </p:cNvPr>
          <p:cNvSpPr>
            <a:spLocks noGrp="1"/>
          </p:cNvSpPr>
          <p:nvPr>
            <p:ph sz="half" idx="11" hasCustomPrompt="1"/>
          </p:nvPr>
        </p:nvSpPr>
        <p:spPr>
          <a:xfrm>
            <a:off x="15316200" y="9144000"/>
            <a:ext cx="13258800" cy="9601200"/>
          </a:xfrm>
        </p:spPr>
        <p:txBody>
          <a:bodyPr/>
          <a:lstStyle/>
          <a:p>
            <a:pPr lvl="0"/>
            <a:r>
              <a:rPr lang="en-US" dirty="0"/>
              <a:t>Let people know how you did your study. Methods can vary depending on the subject or results you want to see. These methods can include:</a:t>
            </a:r>
          </a:p>
          <a:p>
            <a:pPr lvl="0"/>
            <a:r>
              <a:rPr lang="en-US" dirty="0"/>
              <a:t>Interviews</a:t>
            </a:r>
          </a:p>
          <a:p>
            <a:pPr lvl="0"/>
            <a:r>
              <a:rPr lang="en-US" dirty="0"/>
              <a:t>Surveys</a:t>
            </a:r>
          </a:p>
          <a:p>
            <a:pPr lvl="0"/>
            <a:r>
              <a:rPr lang="en-US" dirty="0"/>
              <a:t>Comparison studies</a:t>
            </a:r>
          </a:p>
          <a:p>
            <a:pPr lvl="0"/>
            <a:r>
              <a:rPr lang="en-US" dirty="0"/>
              <a:t>Experiments </a:t>
            </a:r>
          </a:p>
          <a:p>
            <a:pPr lvl="0"/>
            <a:r>
              <a:rPr lang="en-US" dirty="0"/>
              <a:t>You can also show studies of existing literature that were used as references.</a:t>
            </a:r>
          </a:p>
        </p:txBody>
      </p:sp>
      <p:sp>
        <p:nvSpPr>
          <p:cNvPr id="9" name="Text Placeholder 2">
            <a:extLst>
              <a:ext uri="{FF2B5EF4-FFF2-40B4-BE49-F238E27FC236}">
                <a16:creationId xmlns:a16="http://schemas.microsoft.com/office/drawing/2014/main" id="{144D5684-0B6B-C168-1F7C-B27E82AC90B8}"/>
              </a:ext>
            </a:extLst>
          </p:cNvPr>
          <p:cNvSpPr>
            <a:spLocks noGrp="1"/>
          </p:cNvSpPr>
          <p:nvPr>
            <p:ph type="body" idx="12" hasCustomPrompt="1"/>
          </p:nvPr>
        </p:nvSpPr>
        <p:spPr>
          <a:xfrm>
            <a:off x="29718000" y="82296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CONCLUSIONS</a:t>
            </a:r>
          </a:p>
        </p:txBody>
      </p:sp>
      <p:sp>
        <p:nvSpPr>
          <p:cNvPr id="20" name="Content Placeholder 3">
            <a:extLst>
              <a:ext uri="{FF2B5EF4-FFF2-40B4-BE49-F238E27FC236}">
                <a16:creationId xmlns:a16="http://schemas.microsoft.com/office/drawing/2014/main" id="{47E84911-429A-F76A-E214-D862B599BC8B}"/>
              </a:ext>
            </a:extLst>
          </p:cNvPr>
          <p:cNvSpPr>
            <a:spLocks noGrp="1"/>
          </p:cNvSpPr>
          <p:nvPr>
            <p:ph sz="half" idx="13" hasCustomPrompt="1"/>
          </p:nvPr>
        </p:nvSpPr>
        <p:spPr>
          <a:xfrm>
            <a:off x="29718000" y="9144000"/>
            <a:ext cx="13258800" cy="9601200"/>
          </a:xfrm>
        </p:spPr>
        <p:txBody>
          <a:bodyPr/>
          <a:lstStyle/>
          <a:p>
            <a:pPr lvl="0"/>
            <a:r>
              <a:rPr lang="en-US" dirty="0"/>
              <a:t>Summarize the key findings of your study. Address any limitations encountered during your research. </a:t>
            </a:r>
          </a:p>
          <a:p>
            <a:pPr lvl="0"/>
            <a:r>
              <a:rPr lang="en-US" dirty="0"/>
              <a:t>Make suggestions for future study and practical applications based on the findings. End with a powerful closing statement that emphasizes the broader impact of your research.</a:t>
            </a:r>
          </a:p>
        </p:txBody>
      </p:sp>
      <p:sp>
        <p:nvSpPr>
          <p:cNvPr id="21" name="Text Placeholder 2">
            <a:extLst>
              <a:ext uri="{FF2B5EF4-FFF2-40B4-BE49-F238E27FC236}">
                <a16:creationId xmlns:a16="http://schemas.microsoft.com/office/drawing/2014/main" id="{54862F64-290D-CB70-549F-0FE6D1984493}"/>
              </a:ext>
            </a:extLst>
          </p:cNvPr>
          <p:cNvSpPr>
            <a:spLocks noGrp="1"/>
          </p:cNvSpPr>
          <p:nvPr>
            <p:ph type="body" idx="14" hasCustomPrompt="1"/>
          </p:nvPr>
        </p:nvSpPr>
        <p:spPr>
          <a:xfrm>
            <a:off x="914400" y="19202400"/>
            <a:ext cx="13258800" cy="914400"/>
          </a:xfrm>
        </p:spPr>
        <p:txBody>
          <a:bodyPr anchor="ctr"/>
          <a:lstStyle>
            <a:lvl1pPr marL="0" indent="0">
              <a:buNone/>
              <a:defRPr sz="4400" b="1">
                <a:solidFill>
                  <a:schemeClr val="tx2"/>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PURPOSE</a:t>
            </a:r>
          </a:p>
        </p:txBody>
      </p:sp>
      <p:sp>
        <p:nvSpPr>
          <p:cNvPr id="22" name="Content Placeholder 3">
            <a:extLst>
              <a:ext uri="{FF2B5EF4-FFF2-40B4-BE49-F238E27FC236}">
                <a16:creationId xmlns:a16="http://schemas.microsoft.com/office/drawing/2014/main" id="{C6B602E0-82E5-D947-8EEA-67F6AB426B98}"/>
              </a:ext>
            </a:extLst>
          </p:cNvPr>
          <p:cNvSpPr>
            <a:spLocks noGrp="1"/>
          </p:cNvSpPr>
          <p:nvPr>
            <p:ph sz="half" idx="15" hasCustomPrompt="1"/>
          </p:nvPr>
        </p:nvSpPr>
        <p:spPr>
          <a:xfrm>
            <a:off x="914400" y="20116800"/>
            <a:ext cx="13258800" cy="9601200"/>
          </a:xfrm>
        </p:spPr>
        <p:txBody>
          <a:bodyPr/>
          <a:lstStyle/>
          <a:p>
            <a:pPr lvl="0"/>
            <a:r>
              <a:rPr lang="en-US" dirty="0"/>
              <a:t>Explain or enumerate what you want to achieve with your research.</a:t>
            </a:r>
          </a:p>
          <a:p>
            <a:pPr lvl="0"/>
            <a:r>
              <a:rPr lang="en-US" dirty="0"/>
              <a:t>Use bullet points if you must</a:t>
            </a:r>
          </a:p>
          <a:p>
            <a:pPr lvl="0"/>
            <a:r>
              <a:rPr lang="en-US" dirty="0"/>
              <a:t>Add as needed</a:t>
            </a:r>
          </a:p>
        </p:txBody>
      </p:sp>
      <p:sp>
        <p:nvSpPr>
          <p:cNvPr id="23" name="Text Placeholder 2">
            <a:extLst>
              <a:ext uri="{FF2B5EF4-FFF2-40B4-BE49-F238E27FC236}">
                <a16:creationId xmlns:a16="http://schemas.microsoft.com/office/drawing/2014/main" id="{32A7D499-9F2F-16A6-38CE-6B4830B36850}"/>
              </a:ext>
            </a:extLst>
          </p:cNvPr>
          <p:cNvSpPr>
            <a:spLocks noGrp="1"/>
          </p:cNvSpPr>
          <p:nvPr>
            <p:ph type="body" idx="16" hasCustomPrompt="1"/>
          </p:nvPr>
        </p:nvSpPr>
        <p:spPr>
          <a:xfrm>
            <a:off x="15316200" y="192024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RESULTS</a:t>
            </a:r>
          </a:p>
        </p:txBody>
      </p:sp>
      <p:sp>
        <p:nvSpPr>
          <p:cNvPr id="24" name="Content Placeholder 3">
            <a:extLst>
              <a:ext uri="{FF2B5EF4-FFF2-40B4-BE49-F238E27FC236}">
                <a16:creationId xmlns:a16="http://schemas.microsoft.com/office/drawing/2014/main" id="{4CD89BAD-5E86-1B5A-AD09-CE0A562925FD}"/>
              </a:ext>
            </a:extLst>
          </p:cNvPr>
          <p:cNvSpPr>
            <a:spLocks noGrp="1"/>
          </p:cNvSpPr>
          <p:nvPr>
            <p:ph sz="half" idx="17" hasCustomPrompt="1"/>
          </p:nvPr>
        </p:nvSpPr>
        <p:spPr>
          <a:xfrm>
            <a:off x="15316200" y="20116800"/>
            <a:ext cx="13258800" cy="9601200"/>
          </a:xfrm>
        </p:spPr>
        <p:txBody>
          <a:bodyPr/>
          <a:lstStyle/>
          <a:p>
            <a:pPr lvl="0"/>
            <a:r>
              <a:rPr lang="en-US" dirty="0"/>
              <a:t>Results show the outcome of the research and should answer the question or hypothesis stated in the introduction.</a:t>
            </a:r>
          </a:p>
          <a:p>
            <a:pPr lvl="0"/>
            <a:r>
              <a:rPr lang="en-US" dirty="0"/>
              <a:t>State what you've found from your study.</a:t>
            </a:r>
          </a:p>
          <a:p>
            <a:pPr lvl="0"/>
            <a:r>
              <a:rPr lang="en-US" dirty="0"/>
              <a:t>You can also list your findings in bullets.</a:t>
            </a:r>
          </a:p>
          <a:p>
            <a:pPr lvl="0"/>
            <a:r>
              <a:rPr lang="en-US" dirty="0"/>
              <a:t>Avoid too much technical detail or jargon when presenting data.</a:t>
            </a:r>
          </a:p>
        </p:txBody>
      </p:sp>
      <p:sp>
        <p:nvSpPr>
          <p:cNvPr id="25" name="Text Placeholder 2">
            <a:extLst>
              <a:ext uri="{FF2B5EF4-FFF2-40B4-BE49-F238E27FC236}">
                <a16:creationId xmlns:a16="http://schemas.microsoft.com/office/drawing/2014/main" id="{21917BC5-8E04-D5C3-474D-DF6B0CEBB246}"/>
              </a:ext>
            </a:extLst>
          </p:cNvPr>
          <p:cNvSpPr>
            <a:spLocks noGrp="1"/>
          </p:cNvSpPr>
          <p:nvPr>
            <p:ph type="body" idx="18" hasCustomPrompt="1"/>
          </p:nvPr>
        </p:nvSpPr>
        <p:spPr>
          <a:xfrm>
            <a:off x="29718000" y="192024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REFERENCES/ACKNOWLEDGEMENTS</a:t>
            </a:r>
          </a:p>
        </p:txBody>
      </p:sp>
      <p:sp>
        <p:nvSpPr>
          <p:cNvPr id="26" name="Content Placeholder 3">
            <a:extLst>
              <a:ext uri="{FF2B5EF4-FFF2-40B4-BE49-F238E27FC236}">
                <a16:creationId xmlns:a16="http://schemas.microsoft.com/office/drawing/2014/main" id="{B8B41CF0-F7BB-39E3-9FC3-EA4CAB2B5837}"/>
              </a:ext>
            </a:extLst>
          </p:cNvPr>
          <p:cNvSpPr>
            <a:spLocks noGrp="1"/>
          </p:cNvSpPr>
          <p:nvPr>
            <p:ph sz="half" idx="19"/>
          </p:nvPr>
        </p:nvSpPr>
        <p:spPr>
          <a:xfrm>
            <a:off x="29718000" y="20116800"/>
            <a:ext cx="13258800" cy="777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983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277428-8252-B175-ED71-8BD4B0F0A3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486400"/>
            <a:ext cx="43891200" cy="2295144"/>
          </a:xfrm>
          <a:prstGeom prst="rect">
            <a:avLst/>
          </a:prstGeom>
        </p:spPr>
      </p:pic>
      <p:pic>
        <p:nvPicPr>
          <p:cNvPr id="5" name="Picture 4">
            <a:extLst>
              <a:ext uri="{FF2B5EF4-FFF2-40B4-BE49-F238E27FC236}">
                <a16:creationId xmlns:a16="http://schemas.microsoft.com/office/drawing/2014/main" id="{C334B895-4FF1-E2D7-86DD-168C0E9524C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43891200" cy="5486400"/>
          </a:xfrm>
          <a:prstGeom prst="rect">
            <a:avLst/>
          </a:prstGeom>
        </p:spPr>
      </p:pic>
      <p:pic>
        <p:nvPicPr>
          <p:cNvPr id="19" name="Picture 18">
            <a:extLst>
              <a:ext uri="{FF2B5EF4-FFF2-40B4-BE49-F238E27FC236}">
                <a16:creationId xmlns:a16="http://schemas.microsoft.com/office/drawing/2014/main" id="{1D86671F-E34B-0FCE-ED58-712DDD094B0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30158620"/>
            <a:ext cx="43891200" cy="2743200"/>
          </a:xfrm>
          <a:prstGeom prst="rect">
            <a:avLst/>
          </a:prstGeom>
        </p:spPr>
      </p:pic>
      <p:sp>
        <p:nvSpPr>
          <p:cNvPr id="2" name="Title Placeholder 1"/>
          <p:cNvSpPr>
            <a:spLocks noGrp="1"/>
          </p:cNvSpPr>
          <p:nvPr>
            <p:ph type="title"/>
          </p:nvPr>
        </p:nvSpPr>
        <p:spPr>
          <a:xfrm>
            <a:off x="7315200" y="457200"/>
            <a:ext cx="29260800" cy="4572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2">
            <a:extLst>
              <a:ext uri="{FF2B5EF4-FFF2-40B4-BE49-F238E27FC236}">
                <a16:creationId xmlns:a16="http://schemas.microsoft.com/office/drawing/2014/main" id="{102FFA27-3ECC-D55C-EF88-321DF63F0F20}"/>
              </a:ext>
            </a:extLst>
          </p:cNvPr>
          <p:cNvSpPr txBox="1">
            <a:spLocks/>
          </p:cNvSpPr>
          <p:nvPr userDrawn="1"/>
        </p:nvSpPr>
        <p:spPr>
          <a:xfrm>
            <a:off x="2743200" y="5683827"/>
            <a:ext cx="38404800" cy="1371600"/>
          </a:xfrm>
          <a:prstGeom prst="rect">
            <a:avLst/>
          </a:prstGeom>
          <a:noFill/>
        </p:spPr>
        <p:txBody>
          <a:bodyPr anchor="ctr"/>
          <a:lstStyle>
            <a:lvl1pPr marL="0" indent="0" algn="ctr" defTabSz="4389120" rtl="0" eaLnBrk="1" latinLnBrk="0" hangingPunct="1">
              <a:lnSpc>
                <a:spcPct val="90000"/>
              </a:lnSpc>
              <a:spcBef>
                <a:spcPts val="4800"/>
              </a:spcBef>
              <a:buFont typeface="Arial" panose="020B0604020202020204" pitchFamily="34" charset="0"/>
              <a:buNone/>
              <a:defRPr sz="4800" b="1" kern="1200">
                <a:solidFill>
                  <a:schemeClr val="bg1"/>
                </a:solidFill>
                <a:latin typeface="Sofia Pro" panose="00000500000000000000" pitchFamily="50" charset="0"/>
                <a:ea typeface="+mn-ea"/>
                <a:cs typeface="+mn-cs"/>
              </a:defRPr>
            </a:lvl1pPr>
            <a:lvl2pPr marL="2194560" indent="0" algn="ctr" defTabSz="4389120" rtl="0" eaLnBrk="1" latinLnBrk="0" hangingPunct="1">
              <a:lnSpc>
                <a:spcPct val="90000"/>
              </a:lnSpc>
              <a:spcBef>
                <a:spcPts val="2400"/>
              </a:spcBef>
              <a:buFont typeface="Arial" panose="020B0604020202020204" pitchFamily="34" charset="0"/>
              <a:buNone/>
              <a:defRPr sz="9600" kern="1200">
                <a:solidFill>
                  <a:schemeClr val="tx1"/>
                </a:solidFill>
                <a:latin typeface="+mn-lt"/>
                <a:ea typeface="+mn-ea"/>
                <a:cs typeface="+mn-cs"/>
              </a:defRPr>
            </a:lvl2pPr>
            <a:lvl3pPr marL="4389120" indent="0" algn="ctr" defTabSz="4389120" rtl="0" eaLnBrk="1" latinLnBrk="0" hangingPunct="1">
              <a:lnSpc>
                <a:spcPct val="90000"/>
              </a:lnSpc>
              <a:spcBef>
                <a:spcPts val="2400"/>
              </a:spcBef>
              <a:buFont typeface="Arial" panose="020B0604020202020204" pitchFamily="34" charset="0"/>
              <a:buNone/>
              <a:defRPr sz="8640" kern="1200">
                <a:solidFill>
                  <a:schemeClr val="tx1"/>
                </a:solidFill>
                <a:latin typeface="+mn-lt"/>
                <a:ea typeface="+mn-ea"/>
                <a:cs typeface="+mn-cs"/>
              </a:defRPr>
            </a:lvl3pPr>
            <a:lvl4pPr marL="65836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4pPr>
            <a:lvl5pPr marL="877824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5pPr>
            <a:lvl6pPr marL="1097280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6pPr>
            <a:lvl7pPr marL="1316736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7pPr>
            <a:lvl8pPr marL="1536192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8pPr>
            <a:lvl9pPr marL="175564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9pPr>
          </a:lstStyle>
          <a:p>
            <a:endParaRPr lang="en-US" dirty="0"/>
          </a:p>
        </p:txBody>
      </p:sp>
      <p:grpSp>
        <p:nvGrpSpPr>
          <p:cNvPr id="10" name="Group 9">
            <a:extLst>
              <a:ext uri="{FF2B5EF4-FFF2-40B4-BE49-F238E27FC236}">
                <a16:creationId xmlns:a16="http://schemas.microsoft.com/office/drawing/2014/main" id="{4CDC2B00-2944-71F2-AD53-71C4892DFF78}"/>
              </a:ext>
            </a:extLst>
          </p:cNvPr>
          <p:cNvGrpSpPr/>
          <p:nvPr userDrawn="1"/>
        </p:nvGrpSpPr>
        <p:grpSpPr>
          <a:xfrm>
            <a:off x="14298756" y="8915400"/>
            <a:ext cx="913638" cy="20574000"/>
            <a:chOff x="14402070" y="8717973"/>
            <a:chExt cx="913638" cy="20542827"/>
          </a:xfrm>
        </p:grpSpPr>
        <p:pic>
          <p:nvPicPr>
            <p:cNvPr id="11" name="Picture 10">
              <a:extLst>
                <a:ext uri="{FF2B5EF4-FFF2-40B4-BE49-F238E27FC236}">
                  <a16:creationId xmlns:a16="http://schemas.microsoft.com/office/drawing/2014/main" id="{85E53850-7CCC-2A3C-2260-7F7CB107EEC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402070" y="13061373"/>
              <a:ext cx="913638" cy="914400"/>
            </a:xfrm>
            <a:prstGeom prst="rect">
              <a:avLst/>
            </a:prstGeom>
          </p:spPr>
        </p:pic>
        <p:cxnSp>
          <p:nvCxnSpPr>
            <p:cNvPr id="12" name="Straight Connector 11">
              <a:extLst>
                <a:ext uri="{FF2B5EF4-FFF2-40B4-BE49-F238E27FC236}">
                  <a16:creationId xmlns:a16="http://schemas.microsoft.com/office/drawing/2014/main" id="{AB52F040-49D5-1B84-1C69-1904562EDD92}"/>
                </a:ext>
              </a:extLst>
            </p:cNvPr>
            <p:cNvCxnSpPr>
              <a:cxnSpLocks/>
            </p:cNvCxnSpPr>
            <p:nvPr userDrawn="1"/>
          </p:nvCxnSpPr>
          <p:spPr>
            <a:xfrm>
              <a:off x="14858889" y="8717973"/>
              <a:ext cx="0" cy="41148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AD715EE-6A99-D6F7-BFC3-8796F7CA776F}"/>
                </a:ext>
              </a:extLst>
            </p:cNvPr>
            <p:cNvCxnSpPr>
              <a:cxnSpLocks/>
            </p:cNvCxnSpPr>
            <p:nvPr userDrawn="1"/>
          </p:nvCxnSpPr>
          <p:spPr>
            <a:xfrm>
              <a:off x="14871247" y="14173200"/>
              <a:ext cx="0" cy="150876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0479FE29-23F7-A78D-A6CB-6388730F9BAE}"/>
              </a:ext>
            </a:extLst>
          </p:cNvPr>
          <p:cNvGrpSpPr/>
          <p:nvPr userDrawn="1"/>
        </p:nvGrpSpPr>
        <p:grpSpPr>
          <a:xfrm rot="10800000">
            <a:off x="28693276" y="8915400"/>
            <a:ext cx="913638" cy="20574000"/>
            <a:chOff x="14554470" y="8870373"/>
            <a:chExt cx="913638" cy="20542827"/>
          </a:xfrm>
        </p:grpSpPr>
        <p:pic>
          <p:nvPicPr>
            <p:cNvPr id="15" name="Picture 14">
              <a:extLst>
                <a:ext uri="{FF2B5EF4-FFF2-40B4-BE49-F238E27FC236}">
                  <a16:creationId xmlns:a16="http://schemas.microsoft.com/office/drawing/2014/main" id="{62C5C828-7830-0E68-4470-4019236B090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554470" y="13213773"/>
              <a:ext cx="913638" cy="914400"/>
            </a:xfrm>
            <a:prstGeom prst="rect">
              <a:avLst/>
            </a:prstGeom>
          </p:spPr>
        </p:pic>
        <p:cxnSp>
          <p:nvCxnSpPr>
            <p:cNvPr id="16" name="Straight Connector 15">
              <a:extLst>
                <a:ext uri="{FF2B5EF4-FFF2-40B4-BE49-F238E27FC236}">
                  <a16:creationId xmlns:a16="http://schemas.microsoft.com/office/drawing/2014/main" id="{7645006A-620F-96D1-CE14-85E54CA65FE4}"/>
                </a:ext>
              </a:extLst>
            </p:cNvPr>
            <p:cNvCxnSpPr>
              <a:cxnSpLocks/>
            </p:cNvCxnSpPr>
            <p:nvPr userDrawn="1"/>
          </p:nvCxnSpPr>
          <p:spPr>
            <a:xfrm>
              <a:off x="15011289" y="8870373"/>
              <a:ext cx="0" cy="41148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49BA160-5B28-0C25-70D9-983AED2D2C3B}"/>
                </a:ext>
              </a:extLst>
            </p:cNvPr>
            <p:cNvCxnSpPr>
              <a:cxnSpLocks/>
            </p:cNvCxnSpPr>
            <p:nvPr userDrawn="1"/>
          </p:nvCxnSpPr>
          <p:spPr>
            <a:xfrm>
              <a:off x="15023647" y="14325600"/>
              <a:ext cx="0" cy="150876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grpSp>
      <p:pic>
        <p:nvPicPr>
          <p:cNvPr id="25" name="Picture 24">
            <a:extLst>
              <a:ext uri="{FF2B5EF4-FFF2-40B4-BE49-F238E27FC236}">
                <a16:creationId xmlns:a16="http://schemas.microsoft.com/office/drawing/2014/main" id="{EE5A9641-5F60-7CDB-C64D-1F0A42E1BFA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7706058" y="27867678"/>
            <a:ext cx="6185142" cy="2743200"/>
          </a:xfrm>
          <a:prstGeom prst="rect">
            <a:avLst/>
          </a:prstGeom>
        </p:spPr>
      </p:pic>
      <p:sp>
        <p:nvSpPr>
          <p:cNvPr id="28" name="TextBox 27">
            <a:extLst>
              <a:ext uri="{FF2B5EF4-FFF2-40B4-BE49-F238E27FC236}">
                <a16:creationId xmlns:a16="http://schemas.microsoft.com/office/drawing/2014/main" id="{B1DCD6E2-61E6-FD35-C282-23A5E6D66A2A}"/>
              </a:ext>
            </a:extLst>
          </p:cNvPr>
          <p:cNvSpPr txBox="1"/>
          <p:nvPr userDrawn="1"/>
        </p:nvSpPr>
        <p:spPr>
          <a:xfrm>
            <a:off x="39667824" y="32532488"/>
            <a:ext cx="3602268" cy="369332"/>
          </a:xfrm>
          <a:prstGeom prst="rect">
            <a:avLst/>
          </a:prstGeom>
          <a:noFill/>
        </p:spPr>
        <p:txBody>
          <a:bodyPr wrap="none" rtlCol="0">
            <a:spAutoFit/>
          </a:bodyPr>
          <a:lstStyle/>
          <a:p>
            <a:pPr algn="r"/>
            <a:r>
              <a:rPr lang="en-US" dirty="0">
                <a:solidFill>
                  <a:schemeClr val="bg1"/>
                </a:solidFill>
              </a:rPr>
              <a:t>© University of Utah Health 2026</a:t>
            </a:r>
          </a:p>
        </p:txBody>
      </p:sp>
      <p:grpSp>
        <p:nvGrpSpPr>
          <p:cNvPr id="6" name="Group 5">
            <a:extLst>
              <a:ext uri="{FF2B5EF4-FFF2-40B4-BE49-F238E27FC236}">
                <a16:creationId xmlns:a16="http://schemas.microsoft.com/office/drawing/2014/main" id="{01981A86-720C-8BAF-EA6E-C6F2EF203C8D}"/>
              </a:ext>
            </a:extLst>
          </p:cNvPr>
          <p:cNvGrpSpPr/>
          <p:nvPr userDrawn="1"/>
        </p:nvGrpSpPr>
        <p:grpSpPr>
          <a:xfrm>
            <a:off x="4951325" y="31089600"/>
            <a:ext cx="33988550" cy="923330"/>
            <a:chOff x="4951325" y="31208529"/>
            <a:chExt cx="33988550" cy="923330"/>
          </a:xfrm>
        </p:grpSpPr>
        <p:sp>
          <p:nvSpPr>
            <p:cNvPr id="27" name="TextBox 26">
              <a:extLst>
                <a:ext uri="{FF2B5EF4-FFF2-40B4-BE49-F238E27FC236}">
                  <a16:creationId xmlns:a16="http://schemas.microsoft.com/office/drawing/2014/main" id="{C9D8EFC7-D11A-3949-5633-0D925053EC5B}"/>
                </a:ext>
              </a:extLst>
            </p:cNvPr>
            <p:cNvSpPr txBox="1"/>
            <p:nvPr userDrawn="1"/>
          </p:nvSpPr>
          <p:spPr>
            <a:xfrm>
              <a:off x="4951325" y="31208529"/>
              <a:ext cx="18343483" cy="92333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5400" dirty="0">
                  <a:solidFill>
                    <a:schemeClr val="bg1"/>
                  </a:solidFill>
                </a:rPr>
                <a:t>BIOMEDICAL INFORMATICS  |  medicine.utah.edu/dbmi  |</a:t>
              </a:r>
              <a:endParaRPr lang="en-US" sz="5400" dirty="0"/>
            </a:p>
          </p:txBody>
        </p:sp>
        <p:grpSp>
          <p:nvGrpSpPr>
            <p:cNvPr id="50" name="Group 49">
              <a:extLst>
                <a:ext uri="{FF2B5EF4-FFF2-40B4-BE49-F238E27FC236}">
                  <a16:creationId xmlns:a16="http://schemas.microsoft.com/office/drawing/2014/main" id="{B4CF6A14-AF30-E08F-785B-2846A97DD5BB}"/>
                </a:ext>
              </a:extLst>
            </p:cNvPr>
            <p:cNvGrpSpPr/>
            <p:nvPr userDrawn="1"/>
          </p:nvGrpSpPr>
          <p:grpSpPr>
            <a:xfrm>
              <a:off x="23479635" y="31324891"/>
              <a:ext cx="15460240" cy="690606"/>
              <a:chOff x="27724989" y="31838357"/>
              <a:chExt cx="15460240" cy="690606"/>
            </a:xfrm>
          </p:grpSpPr>
          <p:grpSp>
            <p:nvGrpSpPr>
              <p:cNvPr id="44" name="Group 43">
                <a:extLst>
                  <a:ext uri="{FF2B5EF4-FFF2-40B4-BE49-F238E27FC236}">
                    <a16:creationId xmlns:a16="http://schemas.microsoft.com/office/drawing/2014/main" id="{2DA01D11-0FF6-D724-1F8C-18629AEF8F28}"/>
                  </a:ext>
                </a:extLst>
              </p:cNvPr>
              <p:cNvGrpSpPr/>
              <p:nvPr userDrawn="1"/>
            </p:nvGrpSpPr>
            <p:grpSpPr>
              <a:xfrm>
                <a:off x="27724989" y="31843163"/>
                <a:ext cx="2103657" cy="685800"/>
                <a:chOff x="26400412" y="31843259"/>
                <a:chExt cx="2103657" cy="685800"/>
              </a:xfrm>
            </p:grpSpPr>
            <p:pic>
              <p:nvPicPr>
                <p:cNvPr id="30" name="Picture 29">
                  <a:extLst>
                    <a:ext uri="{FF2B5EF4-FFF2-40B4-BE49-F238E27FC236}">
                      <a16:creationId xmlns:a16="http://schemas.microsoft.com/office/drawing/2014/main" id="{F514CDA8-1BED-5276-F1C4-CEB82210A26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6400412" y="31843259"/>
                  <a:ext cx="685800" cy="685800"/>
                </a:xfrm>
                <a:prstGeom prst="rect">
                  <a:avLst/>
                </a:prstGeom>
              </p:spPr>
            </p:pic>
            <p:sp>
              <p:nvSpPr>
                <p:cNvPr id="39" name="TextBox 38">
                  <a:extLst>
                    <a:ext uri="{FF2B5EF4-FFF2-40B4-BE49-F238E27FC236}">
                      <a16:creationId xmlns:a16="http://schemas.microsoft.com/office/drawing/2014/main" id="{956C10D8-F4A5-9A2D-8E5D-90639E354E61}"/>
                    </a:ext>
                  </a:extLst>
                </p:cNvPr>
                <p:cNvSpPr txBox="1"/>
                <p:nvPr userDrawn="1"/>
              </p:nvSpPr>
              <p:spPr>
                <a:xfrm>
                  <a:off x="27271039" y="31862994"/>
                  <a:ext cx="1233030"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udbli</a:t>
                  </a:r>
                  <a:endParaRPr lang="en-US" sz="3600" dirty="0"/>
                </a:p>
              </p:txBody>
            </p:sp>
          </p:grpSp>
          <p:grpSp>
            <p:nvGrpSpPr>
              <p:cNvPr id="45" name="Group 44">
                <a:extLst>
                  <a:ext uri="{FF2B5EF4-FFF2-40B4-BE49-F238E27FC236}">
                    <a16:creationId xmlns:a16="http://schemas.microsoft.com/office/drawing/2014/main" id="{C6D64DDC-0722-4462-77A5-32223E794ED6}"/>
                  </a:ext>
                </a:extLst>
              </p:cNvPr>
              <p:cNvGrpSpPr/>
              <p:nvPr userDrawn="1"/>
            </p:nvGrpSpPr>
            <p:grpSpPr>
              <a:xfrm>
                <a:off x="30044413" y="31843163"/>
                <a:ext cx="3080364" cy="685800"/>
                <a:chOff x="29703510" y="31843102"/>
                <a:chExt cx="3080364" cy="685800"/>
              </a:xfrm>
            </p:grpSpPr>
            <p:pic>
              <p:nvPicPr>
                <p:cNvPr id="32" name="Picture 31">
                  <a:extLst>
                    <a:ext uri="{FF2B5EF4-FFF2-40B4-BE49-F238E27FC236}">
                      <a16:creationId xmlns:a16="http://schemas.microsoft.com/office/drawing/2014/main" id="{73439212-FA94-072D-E8D0-4A65FB36FFA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9703510" y="31843102"/>
                  <a:ext cx="685800" cy="685800"/>
                </a:xfrm>
                <a:prstGeom prst="rect">
                  <a:avLst/>
                </a:prstGeom>
              </p:spPr>
            </p:pic>
            <p:sp>
              <p:nvSpPr>
                <p:cNvPr id="40" name="TextBox 39">
                  <a:extLst>
                    <a:ext uri="{FF2B5EF4-FFF2-40B4-BE49-F238E27FC236}">
                      <a16:creationId xmlns:a16="http://schemas.microsoft.com/office/drawing/2014/main" id="{82DE87B4-2357-4412-79BC-E3DF5F3C3F03}"/>
                    </a:ext>
                  </a:extLst>
                </p:cNvPr>
                <p:cNvSpPr txBox="1"/>
                <p:nvPr userDrawn="1"/>
              </p:nvSpPr>
              <p:spPr>
                <a:xfrm>
                  <a:off x="30524922" y="31862837"/>
                  <a:ext cx="2258952"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@uudbmi</a:t>
                  </a:r>
                  <a:endParaRPr lang="en-US" sz="3600" dirty="0"/>
                </a:p>
              </p:txBody>
            </p:sp>
          </p:grpSp>
          <p:grpSp>
            <p:nvGrpSpPr>
              <p:cNvPr id="46" name="Group 45">
                <a:extLst>
                  <a:ext uri="{FF2B5EF4-FFF2-40B4-BE49-F238E27FC236}">
                    <a16:creationId xmlns:a16="http://schemas.microsoft.com/office/drawing/2014/main" id="{C18E14A6-1867-74B1-B8CD-598B103FF4DB}"/>
                  </a:ext>
                </a:extLst>
              </p:cNvPr>
              <p:cNvGrpSpPr/>
              <p:nvPr userDrawn="1"/>
            </p:nvGrpSpPr>
            <p:grpSpPr>
              <a:xfrm>
                <a:off x="33340544" y="31843163"/>
                <a:ext cx="2955627" cy="685800"/>
                <a:chOff x="33006608" y="31865550"/>
                <a:chExt cx="2955627" cy="685800"/>
              </a:xfrm>
            </p:grpSpPr>
            <p:pic>
              <p:nvPicPr>
                <p:cNvPr id="34" name="Picture 33">
                  <a:extLst>
                    <a:ext uri="{FF2B5EF4-FFF2-40B4-BE49-F238E27FC236}">
                      <a16:creationId xmlns:a16="http://schemas.microsoft.com/office/drawing/2014/main" id="{62B5C284-D041-2F6E-AF48-AB0248218F9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3006608" y="31865550"/>
                  <a:ext cx="685800" cy="685800"/>
                </a:xfrm>
                <a:prstGeom prst="rect">
                  <a:avLst/>
                </a:prstGeom>
              </p:spPr>
            </p:pic>
            <p:sp>
              <p:nvSpPr>
                <p:cNvPr id="41" name="TextBox 40">
                  <a:extLst>
                    <a:ext uri="{FF2B5EF4-FFF2-40B4-BE49-F238E27FC236}">
                      <a16:creationId xmlns:a16="http://schemas.microsoft.com/office/drawing/2014/main" id="{FB23E0F6-04E0-42D1-9BEC-EC2103896A11}"/>
                    </a:ext>
                  </a:extLst>
                </p:cNvPr>
                <p:cNvSpPr txBox="1"/>
                <p:nvPr userDrawn="1"/>
              </p:nvSpPr>
              <p:spPr>
                <a:xfrm>
                  <a:off x="33831524" y="31885285"/>
                  <a:ext cx="2130711"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@uofbmi</a:t>
                  </a:r>
                  <a:endParaRPr lang="en-US" sz="3600" dirty="0"/>
                </a:p>
              </p:txBody>
            </p:sp>
          </p:grpSp>
          <p:grpSp>
            <p:nvGrpSpPr>
              <p:cNvPr id="47" name="Group 46">
                <a:extLst>
                  <a:ext uri="{FF2B5EF4-FFF2-40B4-BE49-F238E27FC236}">
                    <a16:creationId xmlns:a16="http://schemas.microsoft.com/office/drawing/2014/main" id="{B4F4FCD4-EECB-188B-CDEE-9A60A454A6AE}"/>
                  </a:ext>
                </a:extLst>
              </p:cNvPr>
              <p:cNvGrpSpPr/>
              <p:nvPr userDrawn="1"/>
            </p:nvGrpSpPr>
            <p:grpSpPr>
              <a:xfrm>
                <a:off x="36511938" y="31843163"/>
                <a:ext cx="2885095" cy="685800"/>
                <a:chOff x="36309706" y="31813816"/>
                <a:chExt cx="2885095" cy="685800"/>
              </a:xfrm>
            </p:grpSpPr>
            <p:pic>
              <p:nvPicPr>
                <p:cNvPr id="36" name="Picture 35">
                  <a:extLst>
                    <a:ext uri="{FF2B5EF4-FFF2-40B4-BE49-F238E27FC236}">
                      <a16:creationId xmlns:a16="http://schemas.microsoft.com/office/drawing/2014/main" id="{96C63554-2EDD-96A1-891E-F0A0737FE84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6309706" y="31813816"/>
                  <a:ext cx="685800" cy="685800"/>
                </a:xfrm>
                <a:prstGeom prst="rect">
                  <a:avLst/>
                </a:prstGeom>
              </p:spPr>
            </p:pic>
            <p:sp>
              <p:nvSpPr>
                <p:cNvPr id="42" name="TextBox 41">
                  <a:extLst>
                    <a:ext uri="{FF2B5EF4-FFF2-40B4-BE49-F238E27FC236}">
                      <a16:creationId xmlns:a16="http://schemas.microsoft.com/office/drawing/2014/main" id="{C891F43C-1695-C61B-CCDE-7748174C86EC}"/>
                    </a:ext>
                  </a:extLst>
                </p:cNvPr>
                <p:cNvSpPr txBox="1"/>
                <p:nvPr userDrawn="1"/>
              </p:nvSpPr>
              <p:spPr>
                <a:xfrm>
                  <a:off x="37134622" y="31833551"/>
                  <a:ext cx="2060179"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uoudbmi</a:t>
                  </a:r>
                  <a:endParaRPr lang="en-US" sz="3600" dirty="0"/>
                </a:p>
              </p:txBody>
            </p:sp>
          </p:grpSp>
          <p:grpSp>
            <p:nvGrpSpPr>
              <p:cNvPr id="49" name="Group 48">
                <a:extLst>
                  <a:ext uri="{FF2B5EF4-FFF2-40B4-BE49-F238E27FC236}">
                    <a16:creationId xmlns:a16="http://schemas.microsoft.com/office/drawing/2014/main" id="{E533262A-3B1D-39D9-3A0A-3538E5B7BB93}"/>
                  </a:ext>
                </a:extLst>
              </p:cNvPr>
              <p:cNvGrpSpPr/>
              <p:nvPr userDrawn="1"/>
            </p:nvGrpSpPr>
            <p:grpSpPr>
              <a:xfrm>
                <a:off x="39612802" y="31838357"/>
                <a:ext cx="3572427" cy="685800"/>
                <a:chOff x="39612802" y="31838357"/>
                <a:chExt cx="3572427" cy="685800"/>
              </a:xfrm>
            </p:grpSpPr>
            <p:pic>
              <p:nvPicPr>
                <p:cNvPr id="38" name="Picture 37">
                  <a:extLst>
                    <a:ext uri="{FF2B5EF4-FFF2-40B4-BE49-F238E27FC236}">
                      <a16:creationId xmlns:a16="http://schemas.microsoft.com/office/drawing/2014/main" id="{9999700B-5E80-E07D-88E6-77205D47FC78}"/>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9612802" y="31838357"/>
                  <a:ext cx="685800" cy="685800"/>
                </a:xfrm>
                <a:prstGeom prst="rect">
                  <a:avLst/>
                </a:prstGeom>
              </p:spPr>
            </p:pic>
            <p:sp>
              <p:nvSpPr>
                <p:cNvPr id="43" name="TextBox 42">
                  <a:extLst>
                    <a:ext uri="{FF2B5EF4-FFF2-40B4-BE49-F238E27FC236}">
                      <a16:creationId xmlns:a16="http://schemas.microsoft.com/office/drawing/2014/main" id="{D5DBDF5C-395E-4A3E-62C8-3EFD81D143C3}"/>
                    </a:ext>
                  </a:extLst>
                </p:cNvPr>
                <p:cNvSpPr txBox="1"/>
                <p:nvPr userDrawn="1"/>
              </p:nvSpPr>
              <p:spPr>
                <a:xfrm>
                  <a:off x="40438964" y="31858092"/>
                  <a:ext cx="2746265"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@uou-dbmi</a:t>
                  </a:r>
                  <a:endParaRPr lang="en-US" sz="3600" dirty="0"/>
                </a:p>
              </p:txBody>
            </p:sp>
          </p:grpSp>
        </p:grpSp>
      </p:grpSp>
      <p:cxnSp>
        <p:nvCxnSpPr>
          <p:cNvPr id="4" name="Straight Connector 3">
            <a:extLst>
              <a:ext uri="{FF2B5EF4-FFF2-40B4-BE49-F238E27FC236}">
                <a16:creationId xmlns:a16="http://schemas.microsoft.com/office/drawing/2014/main" id="{39615124-A7DF-72E3-D755-1826AACA0FDD}"/>
              </a:ext>
            </a:extLst>
          </p:cNvPr>
          <p:cNvCxnSpPr>
            <a:cxnSpLocks/>
          </p:cNvCxnSpPr>
          <p:nvPr userDrawn="1"/>
        </p:nvCxnSpPr>
        <p:spPr>
          <a:xfrm>
            <a:off x="0" y="5486400"/>
            <a:ext cx="438912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554367"/>
      </p:ext>
    </p:extLst>
  </p:cSld>
  <p:clrMap bg1="lt1" tx1="dk1" bg2="lt2" tx2="dk2" accent1="accent1" accent2="accent2" accent3="accent3" accent4="accent4" accent5="accent5" accent6="accent6" hlink="hlink" folHlink="folHlink"/>
  <p:sldLayoutIdLst>
    <p:sldLayoutId id="2147483665" r:id="rId1"/>
  </p:sldLayoutIdLst>
  <p:txStyles>
    <p:titleStyle>
      <a:lvl1pPr algn="ctr" defTabSz="4389120" rtl="0" eaLnBrk="1" latinLnBrk="0" hangingPunct="1">
        <a:lnSpc>
          <a:spcPct val="90000"/>
        </a:lnSpc>
        <a:spcBef>
          <a:spcPct val="0"/>
        </a:spcBef>
        <a:buNone/>
        <a:defRPr sz="8000" b="0" kern="1200">
          <a:solidFill>
            <a:schemeClr val="bg1"/>
          </a:solidFill>
          <a:latin typeface="Sofia Pro" panose="00000500000000000000" pitchFamily="50" charset="0"/>
          <a:ea typeface="+mj-ea"/>
          <a:cs typeface="+mj-cs"/>
        </a:defRPr>
      </a:lvl1pPr>
    </p:titleStyle>
    <p:bodyStyle>
      <a:lvl1pPr marL="0" indent="0" algn="l" defTabSz="4389120" rtl="0" eaLnBrk="1" latinLnBrk="0" hangingPunct="1">
        <a:lnSpc>
          <a:spcPct val="90000"/>
        </a:lnSpc>
        <a:spcBef>
          <a:spcPts val="4800"/>
        </a:spcBef>
        <a:buFont typeface="Arial" panose="020B0604020202020204" pitchFamily="34" charset="0"/>
        <a:buNone/>
        <a:defRPr sz="4000" kern="1200">
          <a:solidFill>
            <a:schemeClr val="tx1"/>
          </a:solidFill>
          <a:latin typeface="+mn-lt"/>
          <a:ea typeface="+mn-ea"/>
          <a:cs typeface="+mn-cs"/>
        </a:defRPr>
      </a:lvl1pPr>
      <a:lvl2pPr marL="9144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2pPr>
      <a:lvl3pPr marL="18288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3pPr>
      <a:lvl4pPr marL="27432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4pPr>
      <a:lvl5pPr marL="36576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271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hyperlink" Target="mailto:u1447587@utah.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1">
            <a:extLst>
              <a:ext uri="{FF2B5EF4-FFF2-40B4-BE49-F238E27FC236}">
                <a16:creationId xmlns:a16="http://schemas.microsoft.com/office/drawing/2014/main" id="{1EDBDEAD-6B53-2DAE-D463-735BF36B6A3D}"/>
              </a:ext>
            </a:extLst>
          </p:cNvPr>
          <p:cNvSpPr txBox="1">
            <a:spLocks/>
          </p:cNvSpPr>
          <p:nvPr/>
        </p:nvSpPr>
        <p:spPr>
          <a:xfrm>
            <a:off x="914400" y="15101332"/>
            <a:ext cx="13258800" cy="2272268"/>
          </a:xfrm>
          <a:prstGeom prst="rect">
            <a:avLst/>
          </a:prstGeom>
        </p:spPr>
        <p:txBody>
          <a:bodyPr vert="horz" lIns="91440" tIns="45720" rIns="91440" bIns="45720" rtlCol="0">
            <a:normAutofit/>
          </a:bodyPr>
          <a:lstStyle>
            <a:lvl1pPr marL="0" indent="0" algn="l" defTabSz="4389120" rtl="0" eaLnBrk="1" latinLnBrk="0" hangingPunct="1">
              <a:lnSpc>
                <a:spcPct val="90000"/>
              </a:lnSpc>
              <a:spcBef>
                <a:spcPts val="4800"/>
              </a:spcBef>
              <a:buFont typeface="Arial" panose="020B0604020202020204" pitchFamily="34" charset="0"/>
              <a:buNone/>
              <a:defRPr sz="4000" kern="1200">
                <a:solidFill>
                  <a:schemeClr val="tx1"/>
                </a:solidFill>
                <a:latin typeface="+mn-lt"/>
                <a:ea typeface="+mn-ea"/>
                <a:cs typeface="+mn-cs"/>
              </a:defRPr>
            </a:lvl1pPr>
            <a:lvl2pPr marL="9144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2pPr>
            <a:lvl3pPr marL="18288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3pPr>
            <a:lvl4pPr marL="27432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4pPr>
            <a:lvl5pPr marL="36576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a:lstStyle>
          <a:p>
            <a:pPr marL="457200" indent="-457200">
              <a:buFont typeface="Arial" panose="020B0604020202020204" pitchFamily="34" charset="0"/>
              <a:buChar char="•"/>
            </a:pPr>
            <a:r>
              <a:rPr lang="en-US" sz="3200" dirty="0"/>
              <a:t>Evaluate whether COVID-19 is associated with changes in Ankylosing Spondylitis incidence, timing of diagnosis, and longitudinal clinical patterns using large-scale EHR data.</a:t>
            </a:r>
          </a:p>
          <a:p>
            <a:endParaRPr lang="en-US" sz="3200" dirty="0"/>
          </a:p>
        </p:txBody>
      </p:sp>
      <p:sp>
        <p:nvSpPr>
          <p:cNvPr id="4" name="Title 3">
            <a:extLst>
              <a:ext uri="{FF2B5EF4-FFF2-40B4-BE49-F238E27FC236}">
                <a16:creationId xmlns:a16="http://schemas.microsoft.com/office/drawing/2014/main" id="{2BACADFC-302F-81DF-53BD-7DB7D780A298}"/>
              </a:ext>
            </a:extLst>
          </p:cNvPr>
          <p:cNvSpPr>
            <a:spLocks noGrp="1"/>
          </p:cNvSpPr>
          <p:nvPr>
            <p:ph type="title"/>
          </p:nvPr>
        </p:nvSpPr>
        <p:spPr>
          <a:xfrm>
            <a:off x="7315200" y="-914400"/>
            <a:ext cx="29260800" cy="4572000"/>
          </a:xfrm>
        </p:spPr>
        <p:txBody>
          <a:bodyPr>
            <a:normAutofit/>
          </a:bodyPr>
          <a:lstStyle/>
          <a:p>
            <a:r>
              <a:rPr lang="en-US" dirty="0"/>
              <a:t>Evaluating Molecular Mimicry Signals in Ankylosing Spondylitis After COVID-19: A Large-Scale EHR Analysis</a:t>
            </a:r>
            <a:endParaRPr lang="en-US" sz="5400" dirty="0"/>
          </a:p>
        </p:txBody>
      </p:sp>
      <p:sp>
        <p:nvSpPr>
          <p:cNvPr id="5" name="Text Placeholder 4">
            <a:extLst>
              <a:ext uri="{FF2B5EF4-FFF2-40B4-BE49-F238E27FC236}">
                <a16:creationId xmlns:a16="http://schemas.microsoft.com/office/drawing/2014/main" id="{8358AA74-74E7-0602-4C77-2C5280FC29EF}"/>
              </a:ext>
            </a:extLst>
          </p:cNvPr>
          <p:cNvSpPr>
            <a:spLocks noGrp="1"/>
          </p:cNvSpPr>
          <p:nvPr>
            <p:ph type="body" idx="1"/>
          </p:nvPr>
        </p:nvSpPr>
        <p:spPr/>
        <p:txBody>
          <a:bodyPr/>
          <a:lstStyle/>
          <a:p>
            <a:r>
              <a:rPr lang="en-US" dirty="0"/>
              <a:t>Background	</a:t>
            </a:r>
          </a:p>
        </p:txBody>
      </p:sp>
      <p:sp>
        <p:nvSpPr>
          <p:cNvPr id="2" name="Content Placeholder 1">
            <a:extLst>
              <a:ext uri="{FF2B5EF4-FFF2-40B4-BE49-F238E27FC236}">
                <a16:creationId xmlns:a16="http://schemas.microsoft.com/office/drawing/2014/main" id="{E9449D6B-343B-3CAF-DB33-8C896AD8502B}"/>
              </a:ext>
            </a:extLst>
          </p:cNvPr>
          <p:cNvSpPr>
            <a:spLocks noGrp="1"/>
          </p:cNvSpPr>
          <p:nvPr>
            <p:ph sz="half" idx="2"/>
          </p:nvPr>
        </p:nvSpPr>
        <p:spPr>
          <a:xfrm>
            <a:off x="914400" y="9144000"/>
            <a:ext cx="13258800" cy="5943600"/>
          </a:xfrm>
        </p:spPr>
        <p:txBody>
          <a:bodyPr>
            <a:normAutofit/>
          </a:bodyPr>
          <a:lstStyle/>
          <a:p>
            <a:pPr marL="457200" indent="-457200">
              <a:buFont typeface="Arial" panose="020B0604020202020204" pitchFamily="34" charset="0"/>
              <a:buChar char="•"/>
            </a:pPr>
            <a:r>
              <a:rPr lang="en-US" sz="3200" dirty="0"/>
              <a:t>Molecular mimicry between SARS-CoV-2 and host immune targets has been proposed as a mechanism linking COVID-19 to immune-mediated inflammatory diseases.</a:t>
            </a:r>
          </a:p>
          <a:p>
            <a:pPr marL="457200" indent="-457200">
              <a:buFont typeface="Arial" panose="020B0604020202020204" pitchFamily="34" charset="0"/>
              <a:buChar char="•"/>
            </a:pPr>
            <a:r>
              <a:rPr lang="en-US" sz="3200" dirty="0"/>
              <a:t>Ankylosing spondylitis has been identified as one of the strongest molecular mimicry signals</a:t>
            </a:r>
            <a:r>
              <a:rPr lang="en-US" sz="3200" baseline="30000" dirty="0"/>
              <a:t>1</a:t>
            </a:r>
            <a:r>
              <a:rPr lang="en-US" sz="3200" dirty="0"/>
              <a:t>.</a:t>
            </a:r>
          </a:p>
          <a:p>
            <a:pPr marL="457200" indent="-457200">
              <a:buFont typeface="Arial" panose="020B0604020202020204" pitchFamily="34" charset="0"/>
              <a:buChar char="•"/>
            </a:pPr>
            <a:r>
              <a:rPr lang="en-US" sz="3200" dirty="0"/>
              <a:t>It remains unclear whether these mechanistic findings translate into detectable population-level or longitudinal clinical patterns in real-world electronic health record (EHR) data.</a:t>
            </a:r>
          </a:p>
          <a:p>
            <a:endParaRPr lang="en-US" sz="3000" dirty="0"/>
          </a:p>
        </p:txBody>
      </p:sp>
      <p:sp>
        <p:nvSpPr>
          <p:cNvPr id="7" name="Text Placeholder 6">
            <a:extLst>
              <a:ext uri="{FF2B5EF4-FFF2-40B4-BE49-F238E27FC236}">
                <a16:creationId xmlns:a16="http://schemas.microsoft.com/office/drawing/2014/main" id="{0F219F88-98E8-DB48-8B42-E34226E727CA}"/>
              </a:ext>
            </a:extLst>
          </p:cNvPr>
          <p:cNvSpPr>
            <a:spLocks noGrp="1"/>
          </p:cNvSpPr>
          <p:nvPr>
            <p:ph type="body" idx="10"/>
          </p:nvPr>
        </p:nvSpPr>
        <p:spPr>
          <a:xfrm>
            <a:off x="15341600" y="13258800"/>
            <a:ext cx="13258800" cy="914400"/>
          </a:xfrm>
        </p:spPr>
        <p:txBody>
          <a:bodyPr/>
          <a:lstStyle/>
          <a:p>
            <a:r>
              <a:rPr lang="en-US" dirty="0"/>
              <a:t>Results </a:t>
            </a:r>
          </a:p>
        </p:txBody>
      </p:sp>
      <p:sp>
        <p:nvSpPr>
          <p:cNvPr id="3" name="Content Placeholder 2">
            <a:extLst>
              <a:ext uri="{FF2B5EF4-FFF2-40B4-BE49-F238E27FC236}">
                <a16:creationId xmlns:a16="http://schemas.microsoft.com/office/drawing/2014/main" id="{ED3F1A90-0C31-C026-CF52-50C11AA7080E}"/>
              </a:ext>
            </a:extLst>
          </p:cNvPr>
          <p:cNvSpPr>
            <a:spLocks noGrp="1"/>
          </p:cNvSpPr>
          <p:nvPr>
            <p:ph sz="half" idx="11"/>
          </p:nvPr>
        </p:nvSpPr>
        <p:spPr>
          <a:xfrm>
            <a:off x="15392400" y="14630400"/>
            <a:ext cx="13258800" cy="5943600"/>
          </a:xfrm>
        </p:spPr>
        <p:txBody>
          <a:bodyPr>
            <a:normAutofit/>
          </a:bodyPr>
          <a:lstStyle/>
          <a:p>
            <a:pPr marL="457200" indent="-457200">
              <a:buFont typeface="Arial" panose="020B0604020202020204" pitchFamily="34" charset="0"/>
              <a:buChar char="•"/>
            </a:pPr>
            <a:r>
              <a:rPr lang="en-US" sz="3200" dirty="0"/>
              <a:t>Longitudinal analyses showed</a:t>
            </a:r>
            <a:r>
              <a:rPr lang="en-US" sz="3200" b="1" dirty="0"/>
              <a:t> no strong evidence </a:t>
            </a:r>
            <a:r>
              <a:rPr lang="en-US" sz="3200" dirty="0"/>
              <a:t>that COVID-19 was associated with </a:t>
            </a:r>
            <a:r>
              <a:rPr lang="en-US" sz="3200" b="1" dirty="0"/>
              <a:t>immediate Ankylosing Spondylitis onset or short-term disease worsening </a:t>
            </a:r>
            <a:r>
              <a:rPr lang="en-US" sz="3200" dirty="0"/>
              <a:t>based on diagnosis- and laboratory-based proxies.</a:t>
            </a:r>
          </a:p>
          <a:p>
            <a:pPr marL="457200" indent="-457200">
              <a:buFont typeface="Arial" panose="020B0604020202020204" pitchFamily="34" charset="0"/>
              <a:buChar char="•"/>
            </a:pPr>
            <a:r>
              <a:rPr lang="en-US" sz="3200" dirty="0"/>
              <a:t>Population-level incidence remained stable from 2018 through 2022.</a:t>
            </a:r>
          </a:p>
          <a:p>
            <a:pPr marL="457200" indent="-457200">
              <a:buFont typeface="Arial" panose="020B0604020202020204" pitchFamily="34" charset="0"/>
              <a:buChar char="•"/>
            </a:pPr>
            <a:r>
              <a:rPr lang="en-US" sz="3200" dirty="0"/>
              <a:t>When extended through 2025, </a:t>
            </a:r>
            <a:r>
              <a:rPr lang="en-US" sz="3200" b="1" dirty="0"/>
              <a:t>a marked increase </a:t>
            </a:r>
            <a:r>
              <a:rPr lang="en-US" sz="3200" dirty="0"/>
              <a:t>emerged, with a post- versus pre-COVID incidence ratio of </a:t>
            </a:r>
            <a:r>
              <a:rPr lang="en-US" sz="3200" b="1" dirty="0"/>
              <a:t>approximately 7.8</a:t>
            </a:r>
            <a:r>
              <a:rPr lang="en-US" sz="3200" dirty="0"/>
              <a:t>.</a:t>
            </a:r>
          </a:p>
          <a:p>
            <a:pPr marL="457200" indent="-457200">
              <a:buFont typeface="Arial" panose="020B0604020202020204" pitchFamily="34" charset="0"/>
              <a:buChar char="•"/>
            </a:pPr>
            <a:r>
              <a:rPr lang="en-US" sz="3200" dirty="0"/>
              <a:t>This increase was driven primarily by </a:t>
            </a:r>
            <a:r>
              <a:rPr lang="en-US" sz="3200" b="1" dirty="0"/>
              <a:t>HLA-B27 laboratory testing </a:t>
            </a:r>
            <a:r>
              <a:rPr lang="en-US" sz="3200" dirty="0"/>
              <a:t>rather than ICD-10 diagnosis codes, </a:t>
            </a:r>
            <a:r>
              <a:rPr lang="en-US" sz="3200" b="1" dirty="0"/>
              <a:t>suggesting increased screening or delayed diagnosis</a:t>
            </a:r>
            <a:r>
              <a:rPr lang="en-US" sz="3200" dirty="0"/>
              <a:t> rather than a direct effect on disease onset.</a:t>
            </a:r>
          </a:p>
        </p:txBody>
      </p:sp>
      <p:sp>
        <p:nvSpPr>
          <p:cNvPr id="9" name="Text Placeholder 8">
            <a:extLst>
              <a:ext uri="{FF2B5EF4-FFF2-40B4-BE49-F238E27FC236}">
                <a16:creationId xmlns:a16="http://schemas.microsoft.com/office/drawing/2014/main" id="{E8D31AE3-A840-C7CB-2DCA-A87F63D962E8}"/>
              </a:ext>
            </a:extLst>
          </p:cNvPr>
          <p:cNvSpPr>
            <a:spLocks noGrp="1"/>
          </p:cNvSpPr>
          <p:nvPr>
            <p:ph type="body" idx="12"/>
          </p:nvPr>
        </p:nvSpPr>
        <p:spPr>
          <a:xfrm>
            <a:off x="29946600" y="15544800"/>
            <a:ext cx="13258800" cy="914400"/>
          </a:xfrm>
        </p:spPr>
        <p:txBody>
          <a:bodyPr/>
          <a:lstStyle/>
          <a:p>
            <a:r>
              <a:rPr lang="en-US" dirty="0"/>
              <a:t>Discussion </a:t>
            </a:r>
          </a:p>
        </p:txBody>
      </p:sp>
      <p:sp>
        <p:nvSpPr>
          <p:cNvPr id="17" name="Content Placeholder 16">
            <a:extLst>
              <a:ext uri="{FF2B5EF4-FFF2-40B4-BE49-F238E27FC236}">
                <a16:creationId xmlns:a16="http://schemas.microsoft.com/office/drawing/2014/main" id="{7B6BA1A0-EF55-B3E5-0029-585D12576009}"/>
              </a:ext>
            </a:extLst>
          </p:cNvPr>
          <p:cNvSpPr>
            <a:spLocks noGrp="1"/>
          </p:cNvSpPr>
          <p:nvPr>
            <p:ph sz="half" idx="13"/>
          </p:nvPr>
        </p:nvSpPr>
        <p:spPr>
          <a:xfrm>
            <a:off x="29768800" y="16459200"/>
            <a:ext cx="13258800" cy="9601200"/>
          </a:xfrm>
        </p:spPr>
        <p:txBody>
          <a:bodyPr>
            <a:normAutofit fontScale="40000" lnSpcReduction="20000"/>
          </a:bodyPr>
          <a:lstStyle/>
          <a:p>
            <a:pPr marL="457200" indent="-457200">
              <a:buFont typeface="Arial" panose="020B0604020202020204" pitchFamily="34" charset="0"/>
              <a:buChar char="•"/>
            </a:pPr>
            <a:r>
              <a:rPr lang="en-US" sz="8000" dirty="0"/>
              <a:t>Across multiple analyses, </a:t>
            </a:r>
            <a:r>
              <a:rPr lang="en-US" sz="8000" b="1" dirty="0"/>
              <a:t>no evidence was found </a:t>
            </a:r>
            <a:r>
              <a:rPr lang="en-US" sz="8000" dirty="0"/>
              <a:t>supporting a direct short-term relationship between COVID-19 and Ankylosing Spondylitis onset or worsening.</a:t>
            </a:r>
          </a:p>
          <a:p>
            <a:pPr marL="457200" indent="-457200">
              <a:buFont typeface="Arial" panose="020B0604020202020204" pitchFamily="34" charset="0"/>
              <a:buChar char="•"/>
            </a:pPr>
            <a:r>
              <a:rPr lang="en-US" sz="8000" dirty="0"/>
              <a:t>Most patients had </a:t>
            </a:r>
            <a:r>
              <a:rPr lang="en-US" sz="8000" b="1" dirty="0"/>
              <a:t>Ankylosing spondylitis diagnosed prior to COVID-19</a:t>
            </a:r>
            <a:r>
              <a:rPr lang="en-US" sz="8000" dirty="0"/>
              <a:t>, and diagnostic frequency did not increase following infection.</a:t>
            </a:r>
          </a:p>
          <a:p>
            <a:pPr marL="457200" indent="-457200">
              <a:buFont typeface="Arial" panose="020B0604020202020204" pitchFamily="34" charset="0"/>
              <a:buChar char="•"/>
            </a:pPr>
            <a:r>
              <a:rPr lang="en-US" sz="8000" dirty="0"/>
              <a:t>Although some temporal proximity between COVID-19 and AS diagnosis was observed, this pattern was largely driven by early pandemic data (2020) and was not consistent across subsequent years. </a:t>
            </a:r>
          </a:p>
          <a:p>
            <a:pPr marL="457200" indent="-457200">
              <a:buFont typeface="Arial" panose="020B0604020202020204" pitchFamily="34" charset="0"/>
              <a:buChar char="•"/>
            </a:pPr>
            <a:r>
              <a:rPr lang="en-US" sz="8000" dirty="0"/>
              <a:t>This suggests that the apparent clustering is more </a:t>
            </a:r>
            <a:r>
              <a:rPr lang="en-US" sz="8000" b="1" dirty="0"/>
              <a:t>likely explained by healthcare utilization, delayed diagnosis, and data recording patterns</a:t>
            </a:r>
            <a:r>
              <a:rPr lang="en-US" sz="8000" dirty="0"/>
              <a:t> rather than a true biological effect.</a:t>
            </a:r>
          </a:p>
          <a:p>
            <a:pPr marL="457200" indent="-457200">
              <a:buFont typeface="Arial" panose="020B0604020202020204" pitchFamily="34" charset="0"/>
              <a:buChar char="•"/>
            </a:pPr>
            <a:r>
              <a:rPr lang="en-US" sz="8000" dirty="0"/>
              <a:t>The observed increase in AS incidence after 2025 appears to reflect </a:t>
            </a:r>
            <a:r>
              <a:rPr lang="en-US" sz="8000" b="1" dirty="0"/>
              <a:t>increased HLA-B27 testing and potential delayed diagnosis</a:t>
            </a:r>
            <a:r>
              <a:rPr lang="en-US" sz="8000" dirty="0"/>
              <a:t>, rather than a direct causal relationship.</a:t>
            </a:r>
          </a:p>
          <a:p>
            <a:pPr marL="457200" indent="-457200">
              <a:buFont typeface="Arial" panose="020B0604020202020204" pitchFamily="34" charset="0"/>
              <a:buChar char="•"/>
            </a:pPr>
            <a:r>
              <a:rPr lang="en-US" sz="8000" dirty="0"/>
              <a:t>While </a:t>
            </a:r>
            <a:r>
              <a:rPr lang="en-US" sz="8000" b="1" dirty="0"/>
              <a:t>no clear acute longitudinal relationship </a:t>
            </a:r>
            <a:r>
              <a:rPr lang="en-US" sz="8000" dirty="0"/>
              <a:t>was detected, the convergence of epidemiologic and mechanistic considerations warrants </a:t>
            </a:r>
            <a:r>
              <a:rPr lang="en-US" sz="8000" b="1" dirty="0"/>
              <a:t>further longitudinal and mechanistic investigation </a:t>
            </a:r>
            <a:r>
              <a:rPr lang="en-US" sz="8000" dirty="0"/>
              <a:t>to clarify causality and long-term clinical implications.</a:t>
            </a:r>
            <a:endParaRPr lang="en-US" sz="3000" dirty="0"/>
          </a:p>
        </p:txBody>
      </p:sp>
      <p:sp>
        <p:nvSpPr>
          <p:cNvPr id="11" name="Text Placeholder 10">
            <a:extLst>
              <a:ext uri="{FF2B5EF4-FFF2-40B4-BE49-F238E27FC236}">
                <a16:creationId xmlns:a16="http://schemas.microsoft.com/office/drawing/2014/main" id="{3960C2AC-A2E2-BE91-2A49-F386685BBFEC}"/>
              </a:ext>
            </a:extLst>
          </p:cNvPr>
          <p:cNvSpPr>
            <a:spLocks noGrp="1"/>
          </p:cNvSpPr>
          <p:nvPr>
            <p:ph type="body" idx="14"/>
          </p:nvPr>
        </p:nvSpPr>
        <p:spPr>
          <a:xfrm>
            <a:off x="914400" y="16916400"/>
            <a:ext cx="13258800" cy="914400"/>
          </a:xfrm>
        </p:spPr>
        <p:txBody>
          <a:bodyPr/>
          <a:lstStyle/>
          <a:p>
            <a:r>
              <a:rPr lang="en-US" dirty="0"/>
              <a:t>Methods</a:t>
            </a:r>
          </a:p>
        </p:txBody>
      </p:sp>
      <p:sp>
        <p:nvSpPr>
          <p:cNvPr id="18" name="Content Placeholder 17">
            <a:extLst>
              <a:ext uri="{FF2B5EF4-FFF2-40B4-BE49-F238E27FC236}">
                <a16:creationId xmlns:a16="http://schemas.microsoft.com/office/drawing/2014/main" id="{FDADAACF-DFD4-7BC6-8A69-49BDB1357228}"/>
              </a:ext>
            </a:extLst>
          </p:cNvPr>
          <p:cNvSpPr>
            <a:spLocks noGrp="1"/>
          </p:cNvSpPr>
          <p:nvPr>
            <p:ph sz="half" idx="15"/>
          </p:nvPr>
        </p:nvSpPr>
        <p:spPr>
          <a:xfrm>
            <a:off x="914400" y="17830800"/>
            <a:ext cx="13258800" cy="9906000"/>
          </a:xfrm>
        </p:spPr>
        <p:txBody>
          <a:bodyPr>
            <a:noAutofit/>
          </a:bodyPr>
          <a:lstStyle/>
          <a:p>
            <a:pPr marL="457200" indent="-457200">
              <a:lnSpc>
                <a:spcPct val="120000"/>
              </a:lnSpc>
              <a:spcBef>
                <a:spcPts val="0"/>
              </a:spcBef>
              <a:buFont typeface="Arial" panose="020B0604020202020204" pitchFamily="34" charset="0"/>
              <a:buChar char="•"/>
            </a:pPr>
            <a:r>
              <a:rPr lang="en-US" sz="3200" b="1" dirty="0"/>
              <a:t>Data Source: </a:t>
            </a:r>
            <a:r>
              <a:rPr lang="en-US" sz="3200" dirty="0"/>
              <a:t>Large-scale longitudinal analysis using EHR data from TriNetX, comprising approximately 300,000 Ankylosing spondylitis patients and ~788 million patient-level records through June 2025.</a:t>
            </a:r>
          </a:p>
          <a:p>
            <a:pPr>
              <a:lnSpc>
                <a:spcPct val="120000"/>
              </a:lnSpc>
              <a:spcBef>
                <a:spcPts val="0"/>
              </a:spcBef>
            </a:pPr>
            <a:endParaRPr lang="en-US" sz="3200" dirty="0"/>
          </a:p>
          <a:p>
            <a:pPr marL="457200" indent="-457200">
              <a:lnSpc>
                <a:spcPct val="120000"/>
              </a:lnSpc>
              <a:spcBef>
                <a:spcPts val="0"/>
              </a:spcBef>
              <a:buFont typeface="Arial" panose="020B0604020202020204" pitchFamily="34" charset="0"/>
              <a:buChar char="•"/>
            </a:pPr>
            <a:r>
              <a:rPr lang="en-US" sz="3200" b="1" dirty="0"/>
              <a:t>Data Processing: </a:t>
            </a:r>
            <a:r>
              <a:rPr lang="en-US" sz="3200" dirty="0"/>
              <a:t>Diagnosis and laboratory data were transformed into an event-based longitudinal representation (patient–date–code structure) using scalable data engineering approaches (Parquet and Polars).</a:t>
            </a:r>
          </a:p>
          <a:p>
            <a:pPr>
              <a:lnSpc>
                <a:spcPct val="120000"/>
              </a:lnSpc>
              <a:spcBef>
                <a:spcPts val="0"/>
              </a:spcBef>
            </a:pPr>
            <a:endParaRPr lang="en-US" sz="3200" dirty="0"/>
          </a:p>
          <a:p>
            <a:pPr marL="457200" indent="-457200">
              <a:lnSpc>
                <a:spcPct val="120000"/>
              </a:lnSpc>
              <a:spcBef>
                <a:spcPts val="0"/>
              </a:spcBef>
              <a:buFont typeface="Arial" panose="020B0604020202020204" pitchFamily="34" charset="0"/>
              <a:buChar char="•"/>
            </a:pPr>
            <a:r>
              <a:rPr lang="en-US" sz="3200" b="1" dirty="0"/>
              <a:t>Cohort Definition: </a:t>
            </a:r>
            <a:r>
              <a:rPr lang="en-US" sz="3200" dirty="0"/>
              <a:t>COVID-19 phenotypes were defined using National COVID Cohort Collaborative (N3C) criteria, integrating diagnosis codes and laboratory confirmation. Infection episodes were defined using a 30-day window to distinguish reinfections.</a:t>
            </a:r>
          </a:p>
          <a:p>
            <a:pPr>
              <a:lnSpc>
                <a:spcPct val="120000"/>
              </a:lnSpc>
              <a:spcBef>
                <a:spcPts val="0"/>
              </a:spcBef>
            </a:pPr>
            <a:endParaRPr lang="en-US" sz="3200" dirty="0"/>
          </a:p>
          <a:p>
            <a:pPr marL="457200" indent="-457200">
              <a:lnSpc>
                <a:spcPct val="120000"/>
              </a:lnSpc>
              <a:spcBef>
                <a:spcPts val="0"/>
              </a:spcBef>
              <a:buFont typeface="Arial" panose="020B0604020202020204" pitchFamily="34" charset="0"/>
              <a:buChar char="•"/>
            </a:pPr>
            <a:r>
              <a:rPr lang="en-US" sz="3200" b="1" dirty="0"/>
              <a:t>Analysis Strategy: </a:t>
            </a:r>
            <a:r>
              <a:rPr lang="en-US" sz="3200" dirty="0"/>
              <a:t>Temporal relationships were assessed by comparing first COVID infection dates with first AS diagnosis dates. Population-level incidence trends were evaluated using </a:t>
            </a:r>
            <a:r>
              <a:rPr lang="en-US" sz="3200" dirty="0" err="1"/>
              <a:t>TriNetX</a:t>
            </a:r>
            <a:r>
              <a:rPr lang="en-US" sz="3200" dirty="0"/>
              <a:t> internally normalized metrics.</a:t>
            </a:r>
          </a:p>
        </p:txBody>
      </p:sp>
      <p:pic>
        <p:nvPicPr>
          <p:cNvPr id="14" name="Content Placeholder 13">
            <a:extLst>
              <a:ext uri="{FF2B5EF4-FFF2-40B4-BE49-F238E27FC236}">
                <a16:creationId xmlns:a16="http://schemas.microsoft.com/office/drawing/2014/main" id="{4EDBD050-8949-662E-6F17-0D708B70A185}"/>
              </a:ext>
            </a:extLst>
          </p:cNvPr>
          <p:cNvPicPr>
            <a:picLocks noGrp="1" noChangeAspect="1"/>
          </p:cNvPicPr>
          <p:nvPr>
            <p:ph sz="half" idx="17"/>
          </p:nvPr>
        </p:nvPicPr>
        <p:blipFill>
          <a:blip r:embed="rId2">
            <a:extLst>
              <a:ext uri="{28A0092B-C50C-407E-A947-70E740481C1C}">
                <a14:useLocalDpi xmlns:a14="http://schemas.microsoft.com/office/drawing/2010/main" val="0"/>
              </a:ext>
            </a:extLst>
          </a:blip>
          <a:stretch>
            <a:fillRect/>
          </a:stretch>
        </p:blipFill>
        <p:spPr>
          <a:xfrm>
            <a:off x="16180694" y="20914526"/>
            <a:ext cx="11682212" cy="7751748"/>
          </a:xfrm>
          <a:prstGeom prst="rect">
            <a:avLst/>
          </a:prstGeom>
        </p:spPr>
      </p:pic>
      <p:sp>
        <p:nvSpPr>
          <p:cNvPr id="15" name="Text Placeholder 14">
            <a:extLst>
              <a:ext uri="{FF2B5EF4-FFF2-40B4-BE49-F238E27FC236}">
                <a16:creationId xmlns:a16="http://schemas.microsoft.com/office/drawing/2014/main" id="{6CE95CAE-E10D-CE49-1FC2-EE3D57F62DFE}"/>
              </a:ext>
            </a:extLst>
          </p:cNvPr>
          <p:cNvSpPr>
            <a:spLocks noGrp="1"/>
          </p:cNvSpPr>
          <p:nvPr>
            <p:ph type="body" idx="18"/>
          </p:nvPr>
        </p:nvSpPr>
        <p:spPr>
          <a:xfrm>
            <a:off x="29946600" y="26060400"/>
            <a:ext cx="13487400" cy="914400"/>
          </a:xfrm>
        </p:spPr>
        <p:txBody>
          <a:bodyPr/>
          <a:lstStyle/>
          <a:p>
            <a:r>
              <a:rPr lang="en-US" dirty="0"/>
              <a:t>Acknowledgements </a:t>
            </a:r>
          </a:p>
        </p:txBody>
      </p:sp>
      <p:graphicFrame>
        <p:nvGraphicFramePr>
          <p:cNvPr id="23" name="Content Placeholder 22">
            <a:extLst>
              <a:ext uri="{FF2B5EF4-FFF2-40B4-BE49-F238E27FC236}">
                <a16:creationId xmlns:a16="http://schemas.microsoft.com/office/drawing/2014/main" id="{3EF371CD-49CF-6989-7448-3395E34D5599}"/>
              </a:ext>
            </a:extLst>
          </p:cNvPr>
          <p:cNvGraphicFramePr>
            <a:graphicFrameLocks noGrp="1"/>
          </p:cNvGraphicFramePr>
          <p:nvPr>
            <p:ph sz="half" idx="19"/>
            <p:extLst>
              <p:ext uri="{D42A27DB-BD31-4B8C-83A1-F6EECF244321}">
                <p14:modId xmlns:p14="http://schemas.microsoft.com/office/powerpoint/2010/main" val="112925996"/>
              </p:ext>
            </p:extLst>
          </p:nvPr>
        </p:nvGraphicFramePr>
        <p:xfrm>
          <a:off x="15519400" y="9144000"/>
          <a:ext cx="12903200" cy="2743200"/>
        </p:xfrm>
        <a:graphic>
          <a:graphicData uri="http://schemas.openxmlformats.org/drawingml/2006/table">
            <a:tbl>
              <a:tblPr firstRow="1" bandRow="1">
                <a:tableStyleId>{5C22544A-7EE6-4342-B048-85BDC9FD1C3A}</a:tableStyleId>
              </a:tblPr>
              <a:tblGrid>
                <a:gridCol w="6451600">
                  <a:extLst>
                    <a:ext uri="{9D8B030D-6E8A-4147-A177-3AD203B41FA5}">
                      <a16:colId xmlns:a16="http://schemas.microsoft.com/office/drawing/2014/main" val="644693497"/>
                    </a:ext>
                  </a:extLst>
                </a:gridCol>
                <a:gridCol w="6451600">
                  <a:extLst>
                    <a:ext uri="{9D8B030D-6E8A-4147-A177-3AD203B41FA5}">
                      <a16:colId xmlns:a16="http://schemas.microsoft.com/office/drawing/2014/main" val="3928925226"/>
                    </a:ext>
                  </a:extLst>
                </a:gridCol>
              </a:tblGrid>
              <a:tr h="685800">
                <a:tc>
                  <a:txBody>
                    <a:bodyPr/>
                    <a:lstStyle/>
                    <a:p>
                      <a:pPr algn="ctr"/>
                      <a:r>
                        <a:rPr lang="en-US" sz="3000" dirty="0"/>
                        <a:t>Group</a:t>
                      </a:r>
                    </a:p>
                  </a:txBody>
                  <a:tcPr anchor="ctr">
                    <a:solidFill>
                      <a:schemeClr val="tx2"/>
                    </a:solidFill>
                  </a:tcPr>
                </a:tc>
                <a:tc>
                  <a:txBody>
                    <a:bodyPr/>
                    <a:lstStyle/>
                    <a:p>
                      <a:pPr algn="ctr"/>
                      <a:r>
                        <a:rPr lang="en-US" sz="3000" dirty="0"/>
                        <a:t>N</a:t>
                      </a:r>
                    </a:p>
                  </a:txBody>
                  <a:tcPr anchor="ctr">
                    <a:solidFill>
                      <a:schemeClr val="tx2"/>
                    </a:solidFill>
                  </a:tcPr>
                </a:tc>
                <a:extLst>
                  <a:ext uri="{0D108BD9-81ED-4DB2-BD59-A6C34878D82A}">
                    <a16:rowId xmlns:a16="http://schemas.microsoft.com/office/drawing/2014/main" val="1423351223"/>
                  </a:ext>
                </a:extLst>
              </a:tr>
              <a:tr h="685800">
                <a:tc>
                  <a:txBody>
                    <a:bodyPr/>
                    <a:lstStyle/>
                    <a:p>
                      <a:pPr algn="ctr"/>
                      <a:r>
                        <a:rPr lang="en-US" sz="3000" dirty="0"/>
                        <a:t>AS patients (dx or HLA-B27+)</a:t>
                      </a:r>
                    </a:p>
                  </a:txBody>
                  <a:tcPr anchor="ctr"/>
                </a:tc>
                <a:tc>
                  <a:txBody>
                    <a:bodyPr/>
                    <a:lstStyle/>
                    <a:p>
                      <a:pPr algn="ctr"/>
                      <a:r>
                        <a:rPr lang="en-US" sz="3000" dirty="0"/>
                        <a:t>114246</a:t>
                      </a:r>
                    </a:p>
                  </a:txBody>
                  <a:tcPr anchor="ctr"/>
                </a:tc>
                <a:extLst>
                  <a:ext uri="{0D108BD9-81ED-4DB2-BD59-A6C34878D82A}">
                    <a16:rowId xmlns:a16="http://schemas.microsoft.com/office/drawing/2014/main" val="234307673"/>
                  </a:ext>
                </a:extLst>
              </a:tr>
              <a:tr h="685800">
                <a:tc>
                  <a:txBody>
                    <a:bodyPr/>
                    <a:lstStyle/>
                    <a:p>
                      <a:pPr algn="ctr"/>
                      <a:r>
                        <a:rPr lang="en-US" sz="3000" dirty="0"/>
                        <a:t>COVID-positive patients</a:t>
                      </a:r>
                    </a:p>
                  </a:txBody>
                  <a:tcPr anchor="ctr"/>
                </a:tc>
                <a:tc>
                  <a:txBody>
                    <a:bodyPr/>
                    <a:lstStyle/>
                    <a:p>
                      <a:pPr algn="ctr"/>
                      <a:r>
                        <a:rPr lang="en-US" sz="3000" dirty="0"/>
                        <a:t>51771</a:t>
                      </a:r>
                    </a:p>
                  </a:txBody>
                  <a:tcPr anchor="ctr"/>
                </a:tc>
                <a:extLst>
                  <a:ext uri="{0D108BD9-81ED-4DB2-BD59-A6C34878D82A}">
                    <a16:rowId xmlns:a16="http://schemas.microsoft.com/office/drawing/2014/main" val="3531477255"/>
                  </a:ext>
                </a:extLst>
              </a:tr>
              <a:tr h="685800">
                <a:tc>
                  <a:txBody>
                    <a:bodyPr/>
                    <a:lstStyle/>
                    <a:p>
                      <a:pPr algn="ctr"/>
                      <a:r>
                        <a:rPr lang="en-US" sz="3000" dirty="0"/>
                        <a:t>AS + COVID patients</a:t>
                      </a:r>
                    </a:p>
                  </a:txBody>
                  <a:tcPr anchor="ctr"/>
                </a:tc>
                <a:tc>
                  <a:txBody>
                    <a:bodyPr/>
                    <a:lstStyle/>
                    <a:p>
                      <a:pPr algn="ctr"/>
                      <a:r>
                        <a:rPr lang="en-US" sz="3000" dirty="0"/>
                        <a:t>18273</a:t>
                      </a:r>
                    </a:p>
                  </a:txBody>
                  <a:tcPr anchor="ctr"/>
                </a:tc>
                <a:extLst>
                  <a:ext uri="{0D108BD9-81ED-4DB2-BD59-A6C34878D82A}">
                    <a16:rowId xmlns:a16="http://schemas.microsoft.com/office/drawing/2014/main" val="2291747752"/>
                  </a:ext>
                </a:extLst>
              </a:tr>
            </a:tbl>
          </a:graphicData>
        </a:graphic>
      </p:graphicFrame>
      <p:sp>
        <p:nvSpPr>
          <p:cNvPr id="6" name="Text Placeholder 4">
            <a:extLst>
              <a:ext uri="{FF2B5EF4-FFF2-40B4-BE49-F238E27FC236}">
                <a16:creationId xmlns:a16="http://schemas.microsoft.com/office/drawing/2014/main" id="{F3860D1C-97EA-B45A-C13D-047ADB6AF3F6}"/>
              </a:ext>
            </a:extLst>
          </p:cNvPr>
          <p:cNvSpPr txBox="1">
            <a:spLocks/>
          </p:cNvSpPr>
          <p:nvPr/>
        </p:nvSpPr>
        <p:spPr>
          <a:xfrm>
            <a:off x="914400" y="14173200"/>
            <a:ext cx="13258800" cy="914400"/>
          </a:xfrm>
          <a:prstGeom prst="rect">
            <a:avLst/>
          </a:prstGeom>
        </p:spPr>
        <p:txBody>
          <a:bodyPr vert="horz" lIns="91440" tIns="45720" rIns="91440" bIns="45720" rtlCol="0" anchor="ctr">
            <a:normAutofit/>
          </a:bodyPr>
          <a:lstStyle>
            <a:lvl1pPr marL="0" indent="0" algn="l" defTabSz="4389120" rtl="0" eaLnBrk="1" latinLnBrk="0" hangingPunct="1">
              <a:lnSpc>
                <a:spcPct val="90000"/>
              </a:lnSpc>
              <a:spcBef>
                <a:spcPts val="4800"/>
              </a:spcBef>
              <a:buFont typeface="Arial" panose="020B0604020202020204" pitchFamily="34" charset="0"/>
              <a:buNone/>
              <a:defRPr sz="4400" b="1" kern="1200">
                <a:solidFill>
                  <a:schemeClr val="tx2"/>
                </a:solidFill>
                <a:latin typeface="+mn-lt"/>
                <a:ea typeface="+mn-ea"/>
                <a:cs typeface="+mn-cs"/>
              </a:defRPr>
            </a:lvl1pPr>
            <a:lvl2pPr marL="2194560" indent="0" algn="l" defTabSz="4389120" rtl="0" eaLnBrk="1" latinLnBrk="0" hangingPunct="1">
              <a:lnSpc>
                <a:spcPct val="90000"/>
              </a:lnSpc>
              <a:spcBef>
                <a:spcPts val="2400"/>
              </a:spcBef>
              <a:buFont typeface="Arial" panose="020B0604020202020204" pitchFamily="34" charset="0"/>
              <a:buNone/>
              <a:defRPr sz="9600" b="1" kern="1200">
                <a:solidFill>
                  <a:schemeClr val="tx1"/>
                </a:solidFill>
                <a:latin typeface="+mn-lt"/>
                <a:ea typeface="+mn-ea"/>
                <a:cs typeface="+mn-cs"/>
              </a:defRPr>
            </a:lvl2pPr>
            <a:lvl3pPr marL="4389120" indent="0" algn="l" defTabSz="4389120" rtl="0" eaLnBrk="1" latinLnBrk="0" hangingPunct="1">
              <a:lnSpc>
                <a:spcPct val="90000"/>
              </a:lnSpc>
              <a:spcBef>
                <a:spcPts val="2400"/>
              </a:spcBef>
              <a:buFont typeface="Arial" panose="020B0604020202020204" pitchFamily="34" charset="0"/>
              <a:buNone/>
              <a:defRPr sz="8640" b="1" kern="1200">
                <a:solidFill>
                  <a:schemeClr val="tx1"/>
                </a:solidFill>
                <a:latin typeface="+mn-lt"/>
                <a:ea typeface="+mn-ea"/>
                <a:cs typeface="+mn-cs"/>
              </a:defRPr>
            </a:lvl3pPr>
            <a:lvl4pPr marL="658368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4pPr>
            <a:lvl5pPr marL="877824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5pPr>
            <a:lvl6pPr marL="1097280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6pPr>
            <a:lvl7pPr marL="1316736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7pPr>
            <a:lvl8pPr marL="1536192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8pPr>
            <a:lvl9pPr marL="1755648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9pPr>
          </a:lstStyle>
          <a:p>
            <a:r>
              <a:rPr lang="en-US" dirty="0"/>
              <a:t>Objective	</a:t>
            </a:r>
          </a:p>
        </p:txBody>
      </p:sp>
      <p:pic>
        <p:nvPicPr>
          <p:cNvPr id="1028" name="Picture 4">
            <a:extLst>
              <a:ext uri="{FF2B5EF4-FFF2-40B4-BE49-F238E27FC236}">
                <a16:creationId xmlns:a16="http://schemas.microsoft.com/office/drawing/2014/main" id="{D208C0EB-5C82-BA38-EA72-097CBABC44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31" b="4084"/>
          <a:stretch>
            <a:fillRect/>
          </a:stretch>
        </p:blipFill>
        <p:spPr bwMode="auto">
          <a:xfrm>
            <a:off x="29997400" y="8305800"/>
            <a:ext cx="11686739" cy="6553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 Placeholder 14">
            <a:extLst>
              <a:ext uri="{FF2B5EF4-FFF2-40B4-BE49-F238E27FC236}">
                <a16:creationId xmlns:a16="http://schemas.microsoft.com/office/drawing/2014/main" id="{F9BE1874-214D-1982-7E8A-F8576920CC01}"/>
              </a:ext>
            </a:extLst>
          </p:cNvPr>
          <p:cNvSpPr txBox="1">
            <a:spLocks/>
          </p:cNvSpPr>
          <p:nvPr/>
        </p:nvSpPr>
        <p:spPr>
          <a:xfrm>
            <a:off x="914400" y="27889200"/>
            <a:ext cx="13258800" cy="914400"/>
          </a:xfrm>
          <a:prstGeom prst="rect">
            <a:avLst/>
          </a:prstGeom>
        </p:spPr>
        <p:txBody>
          <a:bodyPr vert="horz" lIns="91440" tIns="45720" rIns="91440" bIns="45720" rtlCol="0" anchor="ctr">
            <a:normAutofit/>
          </a:bodyPr>
          <a:lstStyle>
            <a:lvl1pPr marL="0" indent="0" algn="l" defTabSz="4389120" rtl="0" eaLnBrk="1" latinLnBrk="0" hangingPunct="1">
              <a:lnSpc>
                <a:spcPct val="90000"/>
              </a:lnSpc>
              <a:spcBef>
                <a:spcPts val="4800"/>
              </a:spcBef>
              <a:buFont typeface="Arial" panose="020B0604020202020204" pitchFamily="34" charset="0"/>
              <a:buNone/>
              <a:defRPr lang="en-US" sz="4400" b="1" kern="1200" dirty="0" smtClean="0">
                <a:solidFill>
                  <a:schemeClr val="tx2"/>
                </a:solidFill>
                <a:latin typeface="+mn-lt"/>
                <a:ea typeface="+mn-ea"/>
                <a:cs typeface="+mn-cs"/>
              </a:defRPr>
            </a:lvl1pPr>
            <a:lvl2pPr marL="2194560" indent="0" algn="l" defTabSz="4389120" rtl="0" eaLnBrk="1" latinLnBrk="0" hangingPunct="1">
              <a:lnSpc>
                <a:spcPct val="90000"/>
              </a:lnSpc>
              <a:spcBef>
                <a:spcPts val="2400"/>
              </a:spcBef>
              <a:buFont typeface="Arial" panose="020B0604020202020204" pitchFamily="34" charset="0"/>
              <a:buNone/>
              <a:defRPr sz="9600" b="1" kern="1200">
                <a:solidFill>
                  <a:schemeClr val="tx1"/>
                </a:solidFill>
                <a:latin typeface="+mn-lt"/>
                <a:ea typeface="+mn-ea"/>
                <a:cs typeface="+mn-cs"/>
              </a:defRPr>
            </a:lvl2pPr>
            <a:lvl3pPr marL="4389120" indent="0" algn="l" defTabSz="4389120" rtl="0" eaLnBrk="1" latinLnBrk="0" hangingPunct="1">
              <a:lnSpc>
                <a:spcPct val="90000"/>
              </a:lnSpc>
              <a:spcBef>
                <a:spcPts val="2400"/>
              </a:spcBef>
              <a:buFont typeface="Arial" panose="020B0604020202020204" pitchFamily="34" charset="0"/>
              <a:buNone/>
              <a:defRPr sz="8640" b="1" kern="1200">
                <a:solidFill>
                  <a:schemeClr val="tx1"/>
                </a:solidFill>
                <a:latin typeface="+mn-lt"/>
                <a:ea typeface="+mn-ea"/>
                <a:cs typeface="+mn-cs"/>
              </a:defRPr>
            </a:lvl3pPr>
            <a:lvl4pPr marL="658368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4pPr>
            <a:lvl5pPr marL="877824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5pPr>
            <a:lvl6pPr marL="1097280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6pPr>
            <a:lvl7pPr marL="1316736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7pPr>
            <a:lvl8pPr marL="1536192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8pPr>
            <a:lvl9pPr marL="17556480" indent="0" algn="l" defTabSz="4389120" rtl="0" eaLnBrk="1" latinLnBrk="0" hangingPunct="1">
              <a:lnSpc>
                <a:spcPct val="90000"/>
              </a:lnSpc>
              <a:spcBef>
                <a:spcPts val="2400"/>
              </a:spcBef>
              <a:buFont typeface="Arial" panose="020B0604020202020204" pitchFamily="34" charset="0"/>
              <a:buNone/>
              <a:defRPr sz="7680" b="1" kern="1200">
                <a:solidFill>
                  <a:schemeClr val="tx1"/>
                </a:solidFill>
                <a:latin typeface="+mn-lt"/>
                <a:ea typeface="+mn-ea"/>
                <a:cs typeface="+mn-cs"/>
              </a:defRPr>
            </a:lvl9pPr>
          </a:lstStyle>
          <a:p>
            <a:r>
              <a:rPr lang="en-US" dirty="0"/>
              <a:t>Reference</a:t>
            </a:r>
          </a:p>
        </p:txBody>
      </p:sp>
      <p:sp>
        <p:nvSpPr>
          <p:cNvPr id="16" name="Content Placeholder 16">
            <a:extLst>
              <a:ext uri="{FF2B5EF4-FFF2-40B4-BE49-F238E27FC236}">
                <a16:creationId xmlns:a16="http://schemas.microsoft.com/office/drawing/2014/main" id="{3B20F175-803B-D59C-4917-BAC7FA32390B}"/>
              </a:ext>
            </a:extLst>
          </p:cNvPr>
          <p:cNvSpPr txBox="1">
            <a:spLocks/>
          </p:cNvSpPr>
          <p:nvPr/>
        </p:nvSpPr>
        <p:spPr>
          <a:xfrm>
            <a:off x="29921200" y="26974800"/>
            <a:ext cx="13258800" cy="1371600"/>
          </a:xfrm>
          <a:prstGeom prst="rect">
            <a:avLst/>
          </a:prstGeom>
        </p:spPr>
        <p:txBody>
          <a:bodyPr vert="horz" lIns="91440" tIns="45720" rIns="91440" bIns="45720" rtlCol="0">
            <a:normAutofit/>
          </a:bodyPr>
          <a:lstStyle>
            <a:lvl1pPr marL="0" indent="0" algn="l" defTabSz="4389120" rtl="0" eaLnBrk="1" latinLnBrk="0" hangingPunct="1">
              <a:lnSpc>
                <a:spcPct val="90000"/>
              </a:lnSpc>
              <a:spcBef>
                <a:spcPts val="4800"/>
              </a:spcBef>
              <a:buFont typeface="Arial" panose="020B0604020202020204" pitchFamily="34" charset="0"/>
              <a:buNone/>
              <a:defRPr sz="4000" kern="1200">
                <a:solidFill>
                  <a:schemeClr val="tx1"/>
                </a:solidFill>
                <a:latin typeface="+mn-lt"/>
                <a:ea typeface="+mn-ea"/>
                <a:cs typeface="+mn-cs"/>
              </a:defRPr>
            </a:lvl1pPr>
            <a:lvl2pPr marL="9144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2pPr>
            <a:lvl3pPr marL="18288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3pPr>
            <a:lvl4pPr marL="27432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4pPr>
            <a:lvl5pPr marL="36576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a:lstStyle>
          <a:p>
            <a:pPr algn="just"/>
            <a:r>
              <a:rPr lang="en-US" sz="1800" dirty="0"/>
              <a:t>This research has been partially supported by the NIH National Center for Advancing Translational Sciences award UM1TR004409 [Utah CTSI]. Research computing for this project is provided by the Center for High Performance Computing, University of Utah. CHPC resources is partially funded by NIH Research Instrumentation Award S10OD021644. Data was obtained from the TriNetX Research Network. Content is solely the responsibility of the authors and does not necessarily represent the official views of the NIH. Contact: </a:t>
            </a:r>
            <a:r>
              <a:rPr lang="fi-FI" sz="1800" dirty="0"/>
              <a:t>Matias Lee </a:t>
            </a:r>
            <a:r>
              <a:rPr lang="fi-FI" sz="1800" dirty="0">
                <a:hlinkClick r:id="rId4"/>
              </a:rPr>
              <a:t>u1447587@utah.edu</a:t>
            </a:r>
            <a:r>
              <a:rPr lang="fi-FI" sz="1800" dirty="0"/>
              <a:t> </a:t>
            </a:r>
            <a:endParaRPr lang="en-US" sz="900" dirty="0"/>
          </a:p>
        </p:txBody>
      </p:sp>
      <p:sp>
        <p:nvSpPr>
          <p:cNvPr id="19" name="Content Placeholder 17">
            <a:extLst>
              <a:ext uri="{FF2B5EF4-FFF2-40B4-BE49-F238E27FC236}">
                <a16:creationId xmlns:a16="http://schemas.microsoft.com/office/drawing/2014/main" id="{23362C96-ECAE-2DA1-9152-AB67EC4040D3}"/>
              </a:ext>
            </a:extLst>
          </p:cNvPr>
          <p:cNvSpPr txBox="1">
            <a:spLocks/>
          </p:cNvSpPr>
          <p:nvPr/>
        </p:nvSpPr>
        <p:spPr>
          <a:xfrm>
            <a:off x="914400" y="28803600"/>
            <a:ext cx="13258800" cy="1371600"/>
          </a:xfrm>
          <a:prstGeom prst="rect">
            <a:avLst/>
          </a:prstGeom>
        </p:spPr>
        <p:txBody>
          <a:bodyPr vert="horz" lIns="91440" tIns="45720" rIns="91440" bIns="45720" rtlCol="0">
            <a:noAutofit/>
          </a:bodyPr>
          <a:lstStyle>
            <a:lvl1pPr marL="0" indent="0" algn="l" defTabSz="4389120" rtl="0" eaLnBrk="1" latinLnBrk="0" hangingPunct="1">
              <a:lnSpc>
                <a:spcPct val="90000"/>
              </a:lnSpc>
              <a:spcBef>
                <a:spcPts val="4800"/>
              </a:spcBef>
              <a:buFont typeface="Arial" panose="020B0604020202020204" pitchFamily="34" charset="0"/>
              <a:buNone/>
              <a:defRPr sz="4000" kern="1200">
                <a:solidFill>
                  <a:schemeClr val="tx1"/>
                </a:solidFill>
                <a:latin typeface="+mn-lt"/>
                <a:ea typeface="+mn-ea"/>
                <a:cs typeface="+mn-cs"/>
              </a:defRPr>
            </a:lvl1pPr>
            <a:lvl2pPr marL="9144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2pPr>
            <a:lvl3pPr marL="18288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3pPr>
            <a:lvl4pPr marL="27432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4pPr>
            <a:lvl5pPr marL="36576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a:lstStyle>
          <a:p>
            <a:pPr marL="514350" indent="-514350">
              <a:lnSpc>
                <a:spcPct val="120000"/>
              </a:lnSpc>
              <a:spcBef>
                <a:spcPts val="0"/>
              </a:spcBef>
              <a:buFont typeface="+mj-lt"/>
              <a:buAutoNum type="arabicPeriod"/>
            </a:pPr>
            <a:r>
              <a:rPr lang="en-US" sz="1800" dirty="0" err="1"/>
              <a:t>Maldonado-Catala</a:t>
            </a:r>
            <a:r>
              <a:rPr lang="en-US" sz="1800" dirty="0"/>
              <a:t> P, Gouripeddi R, Schlesinger N, Facelli JC. Molecular Mimicry Impact of the COVID-19 Pandemic: Sequence Homology Between SARS-CoV-2 and Autoimmune Diseases Epitopes. </a:t>
            </a:r>
            <a:r>
              <a:rPr lang="en-US" sz="1800" dirty="0" err="1"/>
              <a:t>Immunoinformatics</a:t>
            </a:r>
            <a:r>
              <a:rPr lang="en-US" sz="1800" dirty="0"/>
              <a:t> (</a:t>
            </a:r>
            <a:r>
              <a:rPr lang="en-US" sz="1800" dirty="0" err="1"/>
              <a:t>Amst</a:t>
            </a:r>
            <a:r>
              <a:rPr lang="en-US" sz="1800" dirty="0"/>
              <a:t>). 2025 Jun;18:100050. </a:t>
            </a:r>
            <a:r>
              <a:rPr lang="en-US" sz="1800" dirty="0" err="1"/>
              <a:t>doi</a:t>
            </a:r>
            <a:r>
              <a:rPr lang="en-US" sz="1800" dirty="0"/>
              <a:t>: 10.1016/j.immuno.2025.100050. </a:t>
            </a:r>
            <a:r>
              <a:rPr lang="en-US" sz="1800" dirty="0" err="1"/>
              <a:t>Epub</a:t>
            </a:r>
            <a:r>
              <a:rPr lang="en-US" sz="1800" dirty="0"/>
              <a:t> 2025 Mar 13. PMID: 40365241; PMCID: PMC12068837.</a:t>
            </a:r>
          </a:p>
        </p:txBody>
      </p:sp>
      <p:sp>
        <p:nvSpPr>
          <p:cNvPr id="20" name="Title 3">
            <a:extLst>
              <a:ext uri="{FF2B5EF4-FFF2-40B4-BE49-F238E27FC236}">
                <a16:creationId xmlns:a16="http://schemas.microsoft.com/office/drawing/2014/main" id="{CD2C651A-46E0-372B-3364-B509E8AB0A40}"/>
              </a:ext>
            </a:extLst>
          </p:cNvPr>
          <p:cNvSpPr txBox="1">
            <a:spLocks/>
          </p:cNvSpPr>
          <p:nvPr/>
        </p:nvSpPr>
        <p:spPr>
          <a:xfrm>
            <a:off x="7315200" y="1828800"/>
            <a:ext cx="29260800" cy="3352800"/>
          </a:xfrm>
          <a:prstGeom prst="rect">
            <a:avLst/>
          </a:prstGeom>
        </p:spPr>
        <p:txBody>
          <a:bodyPr vert="horz" lIns="91440" tIns="45720" rIns="91440" bIns="45720" rtlCol="0" anchor="ctr">
            <a:normAutofit/>
          </a:bodyPr>
          <a:lstStyle>
            <a:lvl1pPr algn="ctr" defTabSz="4389120" rtl="0" eaLnBrk="1" latinLnBrk="0" hangingPunct="1">
              <a:lnSpc>
                <a:spcPct val="90000"/>
              </a:lnSpc>
              <a:spcBef>
                <a:spcPct val="0"/>
              </a:spcBef>
              <a:buNone/>
              <a:defRPr sz="8000" b="0" kern="1200">
                <a:solidFill>
                  <a:schemeClr val="bg1"/>
                </a:solidFill>
                <a:latin typeface="Sofia Pro" panose="00000500000000000000" pitchFamily="50" charset="0"/>
                <a:ea typeface="+mj-ea"/>
                <a:cs typeface="+mj-cs"/>
              </a:defRPr>
            </a:lvl1pPr>
          </a:lstStyle>
          <a:p>
            <a:r>
              <a:rPr lang="en-US" sz="4400" dirty="0"/>
              <a:t>Matias Lee</a:t>
            </a:r>
            <a:r>
              <a:rPr lang="en-US" sz="4400" baseline="30000" dirty="0"/>
              <a:t>1,2</a:t>
            </a:r>
            <a:r>
              <a:rPr lang="en-US" sz="4400" dirty="0"/>
              <a:t>, Naomi Schlesinger</a:t>
            </a:r>
            <a:r>
              <a:rPr lang="en-US" sz="4400" baseline="30000" dirty="0"/>
              <a:t>3</a:t>
            </a:r>
            <a:r>
              <a:rPr lang="en-US" sz="4400" dirty="0"/>
              <a:t>, Dorota Lebiedz-Odrobina</a:t>
            </a:r>
            <a:r>
              <a:rPr lang="en-US" sz="4400" baseline="30000" dirty="0"/>
              <a:t>3</a:t>
            </a:r>
            <a:r>
              <a:rPr lang="en-US" sz="4400" dirty="0"/>
              <a:t>, Jessica Walsh</a:t>
            </a:r>
            <a:r>
              <a:rPr lang="en-US" sz="4400" baseline="30000" dirty="0"/>
              <a:t>3,4</a:t>
            </a:r>
            <a:r>
              <a:rPr lang="en-US" sz="4400" dirty="0"/>
              <a:t>, Julio Facelli</a:t>
            </a:r>
            <a:r>
              <a:rPr lang="en-US" sz="4400" baseline="30000" dirty="0"/>
              <a:t>1,2</a:t>
            </a:r>
            <a:r>
              <a:rPr lang="en-US" sz="4400" dirty="0"/>
              <a:t>, Ram Gouripeddi</a:t>
            </a:r>
            <a:r>
              <a:rPr lang="en-US" sz="4400" baseline="30000" dirty="0"/>
              <a:t>1,2</a:t>
            </a:r>
            <a:endParaRPr lang="en-US" sz="2800" baseline="30000" dirty="0"/>
          </a:p>
        </p:txBody>
      </p:sp>
      <p:sp>
        <p:nvSpPr>
          <p:cNvPr id="21" name="Title 3">
            <a:extLst>
              <a:ext uri="{FF2B5EF4-FFF2-40B4-BE49-F238E27FC236}">
                <a16:creationId xmlns:a16="http://schemas.microsoft.com/office/drawing/2014/main" id="{DE1AC375-2879-3771-E34B-0B450536B268}"/>
              </a:ext>
            </a:extLst>
          </p:cNvPr>
          <p:cNvSpPr txBox="1">
            <a:spLocks/>
          </p:cNvSpPr>
          <p:nvPr/>
        </p:nvSpPr>
        <p:spPr>
          <a:xfrm>
            <a:off x="7315200" y="3048000"/>
            <a:ext cx="29260800" cy="3352800"/>
          </a:xfrm>
          <a:prstGeom prst="rect">
            <a:avLst/>
          </a:prstGeom>
        </p:spPr>
        <p:txBody>
          <a:bodyPr vert="horz" lIns="91440" tIns="45720" rIns="91440" bIns="45720" rtlCol="0" anchor="ctr">
            <a:normAutofit/>
          </a:bodyPr>
          <a:lstStyle>
            <a:lvl1pPr algn="ctr" defTabSz="4389120" rtl="0" eaLnBrk="1" latinLnBrk="0" hangingPunct="1">
              <a:lnSpc>
                <a:spcPct val="90000"/>
              </a:lnSpc>
              <a:spcBef>
                <a:spcPct val="0"/>
              </a:spcBef>
              <a:buNone/>
              <a:defRPr sz="8000" b="0" kern="1200">
                <a:solidFill>
                  <a:schemeClr val="bg1"/>
                </a:solidFill>
                <a:latin typeface="Sofia Pro" panose="00000500000000000000" pitchFamily="50" charset="0"/>
                <a:ea typeface="+mj-ea"/>
                <a:cs typeface="+mj-cs"/>
              </a:defRPr>
            </a:lvl1pPr>
          </a:lstStyle>
          <a:p>
            <a:r>
              <a:rPr lang="en-US" sz="3600" i="1" baseline="30000" dirty="0"/>
              <a:t>1</a:t>
            </a:r>
            <a:r>
              <a:rPr lang="en-US" sz="3600" i="1" dirty="0"/>
              <a:t>Department of Biomedical Informatics, </a:t>
            </a:r>
            <a:r>
              <a:rPr lang="en-US" sz="3600" i="1" baseline="30000" dirty="0"/>
              <a:t>2</a:t>
            </a:r>
            <a:r>
              <a:rPr lang="en-US" sz="3600" i="1" dirty="0"/>
              <a:t>Utah Clinical and Translational Science Institute, </a:t>
            </a:r>
            <a:r>
              <a:rPr lang="en-US" sz="3600" baseline="30000" dirty="0"/>
              <a:t>3</a:t>
            </a:r>
            <a:r>
              <a:rPr lang="en-US" sz="3600" i="1" dirty="0"/>
              <a:t>Division of </a:t>
            </a:r>
            <a:r>
              <a:rPr lang="en-US" sz="3600" i="1"/>
              <a:t>Rheumatology,</a:t>
            </a:r>
            <a:br>
              <a:rPr lang="en-US" sz="3600" i="1"/>
            </a:br>
            <a:r>
              <a:rPr lang="en-US" sz="3600" i="1"/>
              <a:t>University </a:t>
            </a:r>
            <a:r>
              <a:rPr lang="en-US" sz="3600" i="1" dirty="0"/>
              <a:t>of Utah School of Medicine, Salt Lake City, UT, USA. </a:t>
            </a:r>
            <a:r>
              <a:rPr lang="en-US" sz="3600" i="1" baseline="30000" dirty="0"/>
              <a:t>4</a:t>
            </a:r>
            <a:r>
              <a:rPr lang="en-US" sz="3600" i="1" dirty="0"/>
              <a:t>Salt Lake City Veterans Affairs, Salt Lake City, UT, USA.</a:t>
            </a:r>
            <a:endParaRPr lang="en-US" sz="2000" i="1" dirty="0"/>
          </a:p>
        </p:txBody>
      </p:sp>
      <p:sp>
        <p:nvSpPr>
          <p:cNvPr id="22" name="TextBox 21">
            <a:extLst>
              <a:ext uri="{FF2B5EF4-FFF2-40B4-BE49-F238E27FC236}">
                <a16:creationId xmlns:a16="http://schemas.microsoft.com/office/drawing/2014/main" id="{5D754C54-91C8-95BD-D0AA-47C5AD21A767}"/>
              </a:ext>
            </a:extLst>
          </p:cNvPr>
          <p:cNvSpPr txBox="1"/>
          <p:nvPr/>
        </p:nvSpPr>
        <p:spPr>
          <a:xfrm>
            <a:off x="14565085" y="28803600"/>
            <a:ext cx="18810515" cy="997196"/>
          </a:xfrm>
          <a:prstGeom prst="rect">
            <a:avLst/>
          </a:prstGeom>
          <a:noFill/>
        </p:spPr>
        <p:txBody>
          <a:bodyPr wrap="square" lIns="80010" tIns="40005" rIns="80010" bIns="40005" rtlCol="0" anchor="ctr">
            <a:spAutoFit/>
          </a:bodyPr>
          <a:lstStyle/>
          <a:p>
            <a:pPr algn="r"/>
            <a:r>
              <a:rPr lang="en-US" sz="5800" dirty="0">
                <a:solidFill>
                  <a:srgbClr val="C00000"/>
                </a:solidFill>
                <a:latin typeface="Century Gothic" charset="0"/>
                <a:ea typeface="Century Gothic" charset="0"/>
                <a:cs typeface="Century Gothic" charset="0"/>
              </a:rPr>
              <a:t>Utah CTSI</a:t>
            </a:r>
          </a:p>
        </p:txBody>
      </p:sp>
      <p:sp>
        <p:nvSpPr>
          <p:cNvPr id="12" name="TextBox 11">
            <a:extLst>
              <a:ext uri="{FF2B5EF4-FFF2-40B4-BE49-F238E27FC236}">
                <a16:creationId xmlns:a16="http://schemas.microsoft.com/office/drawing/2014/main" id="{CAA6B9C7-B514-523D-D192-E26E48E0FFE9}"/>
              </a:ext>
            </a:extLst>
          </p:cNvPr>
          <p:cNvSpPr txBox="1"/>
          <p:nvPr/>
        </p:nvSpPr>
        <p:spPr>
          <a:xfrm>
            <a:off x="30403800" y="14859000"/>
            <a:ext cx="12293600" cy="1200329"/>
          </a:xfrm>
          <a:prstGeom prst="rect">
            <a:avLst/>
          </a:prstGeom>
          <a:noFill/>
        </p:spPr>
        <p:txBody>
          <a:bodyPr wrap="square">
            <a:spAutoFit/>
          </a:bodyPr>
          <a:lstStyle/>
          <a:p>
            <a:pPr rtl="0">
              <a:buNone/>
            </a:pPr>
            <a:r>
              <a:rPr lang="en-US" sz="1800" b="1" i="0" u="none" strike="noStrike" dirty="0">
                <a:solidFill>
                  <a:srgbClr val="000000"/>
                </a:solidFill>
                <a:effectLst/>
              </a:rPr>
              <a:t>Figure 2</a:t>
            </a:r>
            <a:r>
              <a:rPr lang="en-US" sz="1800" b="0" i="0" u="none" strike="noStrike" dirty="0">
                <a:solidFill>
                  <a:srgbClr val="000000"/>
                </a:solidFill>
                <a:effectLst/>
              </a:rPr>
              <a:t>. Distribution of AS diagnosis timing relative to COVID-19 infection. Most patients had AS diagnosed prior to COVID-19, while AS onset after COVID-19 was less frequent, suggesting no clear immediate temporal association.</a:t>
            </a:r>
            <a:endParaRPr lang="en-US" b="0" dirty="0">
              <a:effectLst/>
            </a:endParaRPr>
          </a:p>
          <a:p>
            <a:pPr>
              <a:buNone/>
            </a:pPr>
            <a:br>
              <a:rPr lang="en-US" dirty="0"/>
            </a:br>
            <a:endParaRPr lang="en-US" dirty="0"/>
          </a:p>
        </p:txBody>
      </p:sp>
      <p:sp>
        <p:nvSpPr>
          <p:cNvPr id="25" name="TextBox 24">
            <a:extLst>
              <a:ext uri="{FF2B5EF4-FFF2-40B4-BE49-F238E27FC236}">
                <a16:creationId xmlns:a16="http://schemas.microsoft.com/office/drawing/2014/main" id="{E95E3FF3-1B49-628E-401D-12D6E30770B5}"/>
              </a:ext>
            </a:extLst>
          </p:cNvPr>
          <p:cNvSpPr txBox="1"/>
          <p:nvPr/>
        </p:nvSpPr>
        <p:spPr>
          <a:xfrm>
            <a:off x="16180694" y="28569987"/>
            <a:ext cx="11682212" cy="1200329"/>
          </a:xfrm>
          <a:prstGeom prst="rect">
            <a:avLst/>
          </a:prstGeom>
          <a:noFill/>
        </p:spPr>
        <p:txBody>
          <a:bodyPr wrap="square">
            <a:spAutoFit/>
          </a:bodyPr>
          <a:lstStyle/>
          <a:p>
            <a:pPr rtl="0">
              <a:buNone/>
            </a:pPr>
            <a:r>
              <a:rPr lang="en-US" sz="1800" b="1" i="0" u="none" strike="noStrike" dirty="0">
                <a:solidFill>
                  <a:srgbClr val="000000"/>
                </a:solidFill>
                <a:effectLst/>
              </a:rPr>
              <a:t>Figure 1</a:t>
            </a:r>
            <a:r>
              <a:rPr lang="en-US" sz="1800" b="0" i="0" u="none" strike="noStrike" dirty="0">
                <a:solidFill>
                  <a:srgbClr val="000000"/>
                </a:solidFill>
                <a:effectLst/>
              </a:rPr>
              <a:t>. Distribution of AS diagnosis timing relative to COVID-19 infection. Most patients had AS diagnosed prior to COVID-19, while AS onset after COVID-19 was less frequent, suggesting no clear immediate temporal association.</a:t>
            </a:r>
            <a:endParaRPr lang="en-US" b="0" dirty="0">
              <a:effectLst/>
            </a:endParaRPr>
          </a:p>
          <a:p>
            <a:pPr>
              <a:buNone/>
            </a:pPr>
            <a:br>
              <a:rPr lang="en-US" dirty="0"/>
            </a:br>
            <a:endParaRPr lang="en-US" dirty="0"/>
          </a:p>
        </p:txBody>
      </p:sp>
      <p:sp>
        <p:nvSpPr>
          <p:cNvPr id="27" name="TextBox 26">
            <a:extLst>
              <a:ext uri="{FF2B5EF4-FFF2-40B4-BE49-F238E27FC236}">
                <a16:creationId xmlns:a16="http://schemas.microsoft.com/office/drawing/2014/main" id="{048DAE67-1EA8-0983-9212-DF1082950B73}"/>
              </a:ext>
            </a:extLst>
          </p:cNvPr>
          <p:cNvSpPr txBox="1"/>
          <p:nvPr/>
        </p:nvSpPr>
        <p:spPr>
          <a:xfrm>
            <a:off x="15519400" y="12039600"/>
            <a:ext cx="13081000" cy="646331"/>
          </a:xfrm>
          <a:prstGeom prst="rect">
            <a:avLst/>
          </a:prstGeom>
          <a:noFill/>
        </p:spPr>
        <p:txBody>
          <a:bodyPr wrap="square">
            <a:spAutoFit/>
          </a:bodyPr>
          <a:lstStyle/>
          <a:p>
            <a:pPr>
              <a:buNone/>
            </a:pPr>
            <a:r>
              <a:rPr lang="en-US" b="1" dirty="0"/>
              <a:t>Table 1. </a:t>
            </a:r>
            <a:r>
              <a:rPr lang="en-US" dirty="0"/>
              <a:t>Cohort sizes derived from the </a:t>
            </a:r>
            <a:r>
              <a:rPr lang="en-US" dirty="0" err="1"/>
              <a:t>TriNetX</a:t>
            </a:r>
            <a:r>
              <a:rPr lang="en-US" dirty="0"/>
              <a:t> EHR dataset, including patients with Ankylosing Spondylitis (AS) defined by diagnosis codes or HLA-B27 positivity, COVID-19 positive patients, and the overlapping AS + COVID population used for downstream temporal analyses. </a:t>
            </a:r>
          </a:p>
        </p:txBody>
      </p:sp>
    </p:spTree>
    <p:extLst>
      <p:ext uri="{BB962C8B-B14F-4D97-AF65-F5344CB8AC3E}">
        <p14:creationId xmlns:p14="http://schemas.microsoft.com/office/powerpoint/2010/main" val="696326998"/>
      </p:ext>
    </p:extLst>
  </p:cSld>
  <p:clrMapOvr>
    <a:masterClrMapping/>
  </p:clrMapOvr>
</p:sld>
</file>

<file path=ppt/theme/theme1.xml><?xml version="1.0" encoding="utf-8"?>
<a:theme xmlns:a="http://schemas.openxmlformats.org/drawingml/2006/main" name="Office Theme">
  <a:themeElements>
    <a:clrScheme name="University of Utah">
      <a:dk1>
        <a:srgbClr val="000000"/>
      </a:dk1>
      <a:lt1>
        <a:srgbClr val="FFFFFF"/>
      </a:lt1>
      <a:dk2>
        <a:srgbClr val="BE0000"/>
      </a:dk2>
      <a:lt2>
        <a:srgbClr val="E2E6E6"/>
      </a:lt2>
      <a:accent1>
        <a:srgbClr val="4F868E"/>
      </a:accent1>
      <a:accent2>
        <a:srgbClr val="FFB81D"/>
      </a:accent2>
      <a:accent3>
        <a:srgbClr val="3ABFC0"/>
      </a:accent3>
      <a:accent4>
        <a:srgbClr val="EFC041"/>
      </a:accent4>
      <a:accent5>
        <a:srgbClr val="9DD8D7"/>
      </a:accent5>
      <a:accent6>
        <a:srgbClr val="E4937B"/>
      </a:accent6>
      <a:hlink>
        <a:srgbClr val="6CC24A"/>
      </a:hlink>
      <a:folHlink>
        <a:srgbClr val="890000"/>
      </a:folHlink>
    </a:clrScheme>
    <a:fontScheme name="University of Utah">
      <a:majorFont>
        <a:latin typeface="Sofia Pro Black"/>
        <a:ea typeface=""/>
        <a:cs typeface=""/>
      </a:majorFont>
      <a:minorFont>
        <a:latin typeface="Sofia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217e0e7-539d-4563-b1bf-7c6dcf074f91}" enabled="0" method="" siteId="{5217e0e7-539d-4563-b1bf-7c6dcf074f91}" removed="1"/>
</clbl:labelList>
</file>

<file path=docProps/app.xml><?xml version="1.0" encoding="utf-8"?>
<Properties xmlns="http://schemas.openxmlformats.org/officeDocument/2006/extended-properties" xmlns:vt="http://schemas.openxmlformats.org/officeDocument/2006/docPropsVTypes">
  <Template>Office Theme</Template>
  <TotalTime>395</TotalTime>
  <Words>834</Words>
  <Application>Microsoft Macintosh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Century Gothic</vt:lpstr>
      <vt:lpstr>Sofia Pro</vt:lpstr>
      <vt:lpstr>Office Theme</vt:lpstr>
      <vt:lpstr>Evaluating Molecular Mimicry Signals in Ankylosing Spondylitis After COVID-19: A Large-Scale EHR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Snyder, Manuel S - (manuel)</dc:creator>
  <cp:lastModifiedBy>Matias Lee</cp:lastModifiedBy>
  <cp:revision>19</cp:revision>
  <dcterms:created xsi:type="dcterms:W3CDTF">2026-02-28T04:30:35Z</dcterms:created>
  <dcterms:modified xsi:type="dcterms:W3CDTF">2026-04-10T18:02:27Z</dcterms:modified>
</cp:coreProperties>
</file>